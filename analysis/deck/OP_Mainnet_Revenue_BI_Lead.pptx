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OP Mainnet as a toll road. Blockspace is the lane capacity we sell, and gas is the unit we meter it in, like kilowatt-hours. The sequencer is OP's toll booth: it orders transactions and collects the fees. Our cost is the L1 data cost, which is what we pay Ethereum to post a copy of every transaction for security. Our share is the fees minus that cost. We compared the last 12 months with the 258 days before, per day, so the uneven period lengths do not distort the picture. Customers are whoever's transactions pay the toll.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for Finance is that costs are not the problem. We keep roughly 96 to 97 cents of every fee dollar. The problem is the top line. Daily fees are down 70%, and the current monthly run-rate is a small fraction of January 2025. Two data sources disagree on the Ethereum posting cost over the 64 days where they overlap, but either way net revenue stays at about 95 to 97% of gross, so the conclusion does not depend on which one we use. We tried rebuilding the cost directly from on-chain data, but the free data provider rate-limited us. That remains a follow-up for the Data team.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splits the drop in daily fees exactly into four pieces. Volume actually helped: we processed 71% more transactions per day. A higher ETH price also helped slightly, adding $0.5k a day. What hurt was price. The base fee, the automatic posted price per unit of gas, falls toward zero when blocks are not full, and it fell 76%. This also gives us a natural experiment. Blockspace got 76% cheaper, but transactions rose only 0.38% for every 1% price drop. Cutting the price did not buy volume, so a modest price increase should not lose much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mwei is the unit for the price of blockspace. One mwei is a trillionth of an ETH, charged per unit of gas. On a normal day blockspace is almost free. When markets crash, trading bots compete to get their transactions in first, and some searchers pay up to $350 per transaction. One day, October 10 2025, earned a fifth of the year. For Finance this means last year's total overstates the repeatable base. Our base case assumes no crash of that size: we take 0.67x of last year's congestion premium, which is last year without the top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 question directly: the apps make the money. They collected $41.3M in fees. Gas paid by the contracts we could track for those apps was $111k, and that is a floor because some app contracts fall below our tracking threshold. ether.fi is the clearest example. It is a card issuer that moved about 70k cards onto OP Mainnet in 2026. It generated $1,849 of app fees for every $1 of gas it paid OP. The economic value created on OP Mainnet is large, and our toll on it is small. Growing app activity therefore helps the ecosystem far more than it helps our direct fees.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MEV stands for maximal extractable value. It is the profit trading bots earn by being first in line, through arbitrage and liquidations. Together with unnamed automated contracts, bots pay about two-thirds of our revenue. They send huge volumes at very low prices. That makes them the group a price floor affects most, and also the biggest unknown in our forecast. One caveat: we label a contract as a bot with a rule of thumb (five or fewer senders a day, or 50 or more transactions per sender-day). Labels cover about 340 of 1,082 addresses, so these splits are directional.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BD and Finance angle, this looks like a key-account business we have never managed as one. Half our revenue comes from ten payers, and most of them are automated trading operations we do not have a relationship with. The overall concentration index is moderate because there is a long tail, but losing two or three top payers to another chain would show up in the numbers right away. Priority-fee auctions are tips that bots pay to jump the queue. They are why a few customers can pay hundreds of dollars per transaction on volatile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subscription-business view of our customers. Take everyone paying at least $10 a month and look again three months later. Only about half are still paying, and the group as a whole pays 43% of what it paid before. Some of this is natural, because bots appear and disappear with trading strategies. For planning, though, it means today's revenue is not sticky. That is one reason we pair pricing with BD on payments, where issuers like ether.fi bring steady, recurring card flow instead of opportunistic trading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looked at other customer groups beyond direct fee payers. Stablecoin payments are the one clear growth line, and bridges have turned to net inflow. Most other indicators shrank. Exchange deposits and withdrawals fell to $4.5B a quarter from $9.4B, DeFi deposits (TVL) to $344M from $438M, DEX trading volume to $1.5B from $4.6B, and new addresses to 0.48M a quarter from 2.06M. Builders are the exception, with about 1.8k daily deployers, flat to slightly up. Base leaving the revenue share makes two things matter more: OP Mainnet's own sequencer margin, and other chains as paying OP Enterprise customers.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clear about what this plan achieves: the levers mostly defend revenue. Without them we drift to $0.90M. With them we hold roughly flat at $1.19M. The model is simple: base-load gas times price, plus a spike premium, converted at the ETH price, minus the Ethereum posting cost. The minimum base fee is a setting that has been live on the OP Stack since December 2025 (the Jovian upgrade), so this is configuration rather than new engineering. Lever B looks small on our income statement. Its real value is in ecosystem fees, stablecoin volume and deposits.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changes one assumption at a time. ETH price matters most, and we cannot control it. Of the things we can influence, the biggest unknown is bot elasticity, meaning how much bots cut their usage when the price rises. We assumed -0.6, which is cautious next to the -0.38 we observed. Even at -1.2, where bots react far more strongly than we assumed, the base case is $0.98M. That is still above the $0.90M no-action line. This is why we recommend a staged rollout: each stage measures the real bot response before we go further.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pricing trade-off in one picture. Each step up the floor adds revenue, but each step also widens the gap with Base, Arbitrum and other chains that bots can move to. We stop at 2.5 mwei because users barely notice it: a typical transaction costs about $0.0014. Bots absorb most of the volume loss in the model. Before we act, the team needs to confirm OP Mainnet's current minimum base fee setting in the on-chain configuration, because this analysis did not verify it. Higher floors are an option for later, once we have the stage-one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FF0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463040"/>
          </a:xfrm>
          <a:prstGeom prst="rect">
            <a:avLst/>
          </a:prstGeom>
          <a:noFill/>
        </p:spPr>
        <p:txBody>
          <a:bodyPr wrap="square" anchor="t" lIns="0" rIns="0">
            <a:spAutoFit/>
          </a:bodyPr>
          <a:lstStyle/>
          <a:p>
            <a:pPr algn="l"/>
            <a:r>
              <a:rPr sz="4400" b="1">
                <a:solidFill>
                  <a:srgbClr val="0B0B0B"/>
                </a:solidFill>
                <a:latin typeface="Helvetica Neue"/>
              </a:rPr>
              <a:t>OP Mainnet: Who Makes Money, What We Keep, How to Grow It</a:t>
            </a:r>
          </a:p>
        </p:txBody>
      </p:sp>
      <p:sp>
        <p:nvSpPr>
          <p:cNvPr id="4" name="TextBox 3"/>
          <p:cNvSpPr txBox="1"/>
          <p:nvPr/>
        </p:nvSpPr>
        <p:spPr>
          <a:xfrm>
            <a:off x="822960" y="3291840"/>
            <a:ext cx="10515600" cy="731520"/>
          </a:xfrm>
          <a:prstGeom prst="rect">
            <a:avLst/>
          </a:prstGeom>
          <a:noFill/>
        </p:spPr>
        <p:txBody>
          <a:bodyPr wrap="square" anchor="t" lIns="0" rIns="0">
            <a:spAutoFit/>
          </a:bodyPr>
          <a:lstStyle/>
          <a:p>
            <a:pPr algn="l"/>
            <a:r>
              <a:rPr sz="2000" b="0">
                <a:solidFill>
                  <a:srgbClr val="52514E"/>
                </a:solidFill>
                <a:latin typeface="Helvetica Neue"/>
              </a:rPr>
              <a:t>Sequencer revenue review for the last 12 months (Sep 16 2025 to Sep 15 2026) and a 12-month plan</a:t>
            </a:r>
          </a:p>
        </p:txBody>
      </p:sp>
      <p:sp>
        <p:nvSpPr>
          <p:cNvPr id="5" name="TextBox 4"/>
          <p:cNvSpPr txBox="1"/>
          <p:nvPr/>
        </p:nvSpPr>
        <p:spPr>
          <a:xfrm>
            <a:off x="822960" y="4297680"/>
            <a:ext cx="10058400" cy="1097280"/>
          </a:xfrm>
          <a:prstGeom prst="rect">
            <a:avLst/>
          </a:prstGeom>
          <a:noFill/>
        </p:spPr>
        <p:txBody>
          <a:bodyPr wrap="square" anchor="t" lIns="0" rIns="0">
            <a:spAutoFit/>
          </a:bodyPr>
          <a:lstStyle/>
          <a:p>
            <a:pPr algn="l"/>
            <a:r>
              <a:rPr sz="1800" b="0">
                <a:solidFill>
                  <a:srgbClr val="0B0B0B"/>
                </a:solidFill>
                <a:latin typeface="Helvetica Neue"/>
              </a:rPr>
              <a:t>Apps make the money. OP kept $1.22M, mostly from bots, as blockspace prices fell 76%. A staged fee floor, L1 fix and payments lift next year to $1.19M, not $0.90M.</a:t>
            </a:r>
          </a:p>
        </p:txBody>
      </p:sp>
      <p:sp>
        <p:nvSpPr>
          <p:cNvPr id="6" name="TextBox 5"/>
          <p:cNvSpPr txBox="1"/>
          <p:nvPr/>
        </p:nvSpPr>
        <p:spPr>
          <a:xfrm>
            <a:off x="822960" y="6035040"/>
            <a:ext cx="10515600" cy="365760"/>
          </a:xfrm>
          <a:prstGeom prst="rect">
            <a:avLst/>
          </a:prstGeom>
          <a:noFill/>
        </p:spPr>
        <p:txBody>
          <a:bodyPr wrap="square" anchor="t" lIns="0" rIns="0">
            <a:spAutoFit/>
          </a:bodyPr>
          <a:lstStyle/>
          <a:p>
            <a:pPr algn="l"/>
            <a:r>
              <a:rPr sz="1200" b="0">
                <a:solidFill>
                  <a:srgbClr val="8A8984"/>
                </a:solidFill>
                <a:latin typeface="Helvetica Neue"/>
              </a:rPr>
              <a:t>Business Intelligence Lead take-home · data through 2026-09-15 · code &amp; SQL in the accompanying git repo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EXECUTIVE SUMMARY</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600" b="1">
                <a:solidFill>
                  <a:srgbClr val="0B0B0B"/>
                </a:solidFill>
                <a:latin typeface="Helvetica Neue"/>
              </a:rPr>
              <a:t>Apps make the money; OP keeps ~$1.2M, mostly from bots. Pricing blockspace grows our take.</a:t>
            </a:r>
          </a:p>
        </p:txBody>
      </p:sp>
      <p:sp>
        <p:nvSpPr>
          <p:cNvPr id="6" name="Rectangle 5"/>
          <p:cNvSpPr/>
          <p:nvPr/>
        </p:nvSpPr>
        <p:spPr>
          <a:xfrm>
            <a:off x="548640" y="1645920"/>
            <a:ext cx="2651760" cy="141732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37360"/>
            <a:ext cx="2377440" cy="365760"/>
          </a:xfrm>
          <a:prstGeom prst="rect">
            <a:avLst/>
          </a:prstGeom>
          <a:noFill/>
        </p:spPr>
        <p:txBody>
          <a:bodyPr wrap="square" anchor="t" lIns="0" rIns="0">
            <a:spAutoFit/>
          </a:bodyPr>
          <a:lstStyle/>
          <a:p>
            <a:pPr algn="l"/>
            <a:r>
              <a:rPr sz="1200" b="0">
                <a:solidFill>
                  <a:srgbClr val="52514E"/>
                </a:solidFill>
                <a:latin typeface="Helvetica Neue"/>
              </a:rPr>
              <a:t>Net sequencer revenue, last 12m</a:t>
            </a:r>
          </a:p>
        </p:txBody>
      </p:sp>
      <p:sp>
        <p:nvSpPr>
          <p:cNvPr id="8" name="TextBox 7"/>
          <p:cNvSpPr txBox="1"/>
          <p:nvPr/>
        </p:nvSpPr>
        <p:spPr>
          <a:xfrm>
            <a:off x="685800" y="2057400"/>
            <a:ext cx="2377440" cy="548640"/>
          </a:xfrm>
          <a:prstGeom prst="rect">
            <a:avLst/>
          </a:prstGeom>
          <a:noFill/>
        </p:spPr>
        <p:txBody>
          <a:bodyPr wrap="square" anchor="t" lIns="0" rIns="0">
            <a:spAutoFit/>
          </a:bodyPr>
          <a:lstStyle/>
          <a:p>
            <a:pPr algn="l"/>
            <a:r>
              <a:rPr sz="3000" b="1">
                <a:solidFill>
                  <a:srgbClr val="FF0420"/>
                </a:solidFill>
                <a:latin typeface="Helvetica Neue"/>
              </a:rPr>
              <a:t>$1.22M</a:t>
            </a:r>
          </a:p>
        </p:txBody>
      </p:sp>
      <p:sp>
        <p:nvSpPr>
          <p:cNvPr id="9" name="TextBox 8"/>
          <p:cNvSpPr txBox="1"/>
          <p:nvPr/>
        </p:nvSpPr>
        <p:spPr>
          <a:xfrm>
            <a:off x="685800" y="2651760"/>
            <a:ext cx="2377440" cy="365760"/>
          </a:xfrm>
          <a:prstGeom prst="rect">
            <a:avLst/>
          </a:prstGeom>
          <a:noFill/>
        </p:spPr>
        <p:txBody>
          <a:bodyPr wrap="square" anchor="t" lIns="0" rIns="0">
            <a:spAutoFit/>
          </a:bodyPr>
          <a:lstStyle/>
          <a:p>
            <a:pPr algn="l"/>
            <a:r>
              <a:rPr sz="1100" b="0">
                <a:solidFill>
                  <a:srgbClr val="52514E"/>
                </a:solidFill>
                <a:latin typeface="Helvetica Neue"/>
              </a:rPr>
              <a:t>97% margin after L1 costs</a:t>
            </a:r>
          </a:p>
        </p:txBody>
      </p:sp>
      <p:sp>
        <p:nvSpPr>
          <p:cNvPr id="10" name="Rectangle 9"/>
          <p:cNvSpPr/>
          <p:nvPr/>
        </p:nvSpPr>
        <p:spPr>
          <a:xfrm>
            <a:off x="3364992" y="1645920"/>
            <a:ext cx="2651760" cy="141732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2152" y="1737360"/>
            <a:ext cx="2377440" cy="365760"/>
          </a:xfrm>
          <a:prstGeom prst="rect">
            <a:avLst/>
          </a:prstGeom>
          <a:noFill/>
        </p:spPr>
        <p:txBody>
          <a:bodyPr wrap="square" anchor="t" lIns="0" rIns="0">
            <a:spAutoFit/>
          </a:bodyPr>
          <a:lstStyle/>
          <a:p>
            <a:pPr algn="l"/>
            <a:r>
              <a:rPr sz="1200" b="0">
                <a:solidFill>
                  <a:srgbClr val="52514E"/>
                </a:solidFill>
                <a:latin typeface="Helvetica Neue"/>
              </a:rPr>
              <a:t>Fees apps earned, last 12m</a:t>
            </a:r>
          </a:p>
        </p:txBody>
      </p:sp>
      <p:sp>
        <p:nvSpPr>
          <p:cNvPr id="12" name="TextBox 11"/>
          <p:cNvSpPr txBox="1"/>
          <p:nvPr/>
        </p:nvSpPr>
        <p:spPr>
          <a:xfrm>
            <a:off x="3502152" y="2057400"/>
            <a:ext cx="2377440" cy="548640"/>
          </a:xfrm>
          <a:prstGeom prst="rect">
            <a:avLst/>
          </a:prstGeom>
          <a:noFill/>
        </p:spPr>
        <p:txBody>
          <a:bodyPr wrap="square" anchor="t" lIns="0" rIns="0">
            <a:spAutoFit/>
          </a:bodyPr>
          <a:lstStyle/>
          <a:p>
            <a:pPr algn="l"/>
            <a:r>
              <a:rPr sz="3000" b="1">
                <a:solidFill>
                  <a:srgbClr val="FF0420"/>
                </a:solidFill>
                <a:latin typeface="Helvetica Neue"/>
              </a:rPr>
              <a:t>$41M</a:t>
            </a:r>
          </a:p>
        </p:txBody>
      </p:sp>
      <p:sp>
        <p:nvSpPr>
          <p:cNvPr id="13" name="TextBox 12"/>
          <p:cNvSpPr txBox="1"/>
          <p:nvPr/>
        </p:nvSpPr>
        <p:spPr>
          <a:xfrm>
            <a:off x="3502152" y="2651760"/>
            <a:ext cx="2377440" cy="365760"/>
          </a:xfrm>
          <a:prstGeom prst="rect">
            <a:avLst/>
          </a:prstGeom>
          <a:noFill/>
        </p:spPr>
        <p:txBody>
          <a:bodyPr wrap="square" anchor="t" lIns="0" rIns="0">
            <a:spAutoFit/>
          </a:bodyPr>
          <a:lstStyle/>
          <a:p>
            <a:pPr algn="l"/>
            <a:r>
              <a:rPr sz="1100" b="0">
                <a:solidFill>
                  <a:srgbClr val="52514E"/>
                </a:solidFill>
                <a:latin typeface="Helvetica Neue"/>
              </a:rPr>
              <a:t>≈33× OP's gross take</a:t>
            </a:r>
          </a:p>
        </p:txBody>
      </p:sp>
      <p:sp>
        <p:nvSpPr>
          <p:cNvPr id="14" name="Rectangle 13"/>
          <p:cNvSpPr/>
          <p:nvPr/>
        </p:nvSpPr>
        <p:spPr>
          <a:xfrm>
            <a:off x="6181344" y="1645920"/>
            <a:ext cx="2651760" cy="141732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18504" y="1737360"/>
            <a:ext cx="2377440" cy="365760"/>
          </a:xfrm>
          <a:prstGeom prst="rect">
            <a:avLst/>
          </a:prstGeom>
          <a:noFill/>
        </p:spPr>
        <p:txBody>
          <a:bodyPr wrap="square" anchor="t" lIns="0" rIns="0">
            <a:spAutoFit/>
          </a:bodyPr>
          <a:lstStyle/>
          <a:p>
            <a:pPr algn="l"/>
            <a:r>
              <a:rPr sz="1200" b="0">
                <a:solidFill>
                  <a:srgbClr val="52514E"/>
                </a:solidFill>
                <a:latin typeface="Helvetica Neue"/>
              </a:rPr>
              <a:t>Share of fees paid by bots</a:t>
            </a:r>
          </a:p>
        </p:txBody>
      </p:sp>
      <p:sp>
        <p:nvSpPr>
          <p:cNvPr id="16" name="TextBox 15"/>
          <p:cNvSpPr txBox="1"/>
          <p:nvPr/>
        </p:nvSpPr>
        <p:spPr>
          <a:xfrm>
            <a:off x="6318504" y="2057400"/>
            <a:ext cx="2377440" cy="548640"/>
          </a:xfrm>
          <a:prstGeom prst="rect">
            <a:avLst/>
          </a:prstGeom>
          <a:noFill/>
        </p:spPr>
        <p:txBody>
          <a:bodyPr wrap="square" anchor="t" lIns="0" rIns="0">
            <a:spAutoFit/>
          </a:bodyPr>
          <a:lstStyle/>
          <a:p>
            <a:pPr algn="l"/>
            <a:r>
              <a:rPr sz="3000" b="1">
                <a:solidFill>
                  <a:srgbClr val="FF0420"/>
                </a:solidFill>
                <a:latin typeface="Helvetica Neue"/>
              </a:rPr>
              <a:t>66%</a:t>
            </a:r>
          </a:p>
        </p:txBody>
      </p:sp>
      <p:sp>
        <p:nvSpPr>
          <p:cNvPr id="17" name="TextBox 16"/>
          <p:cNvSpPr txBox="1"/>
          <p:nvPr/>
        </p:nvSpPr>
        <p:spPr>
          <a:xfrm>
            <a:off x="6318504" y="2651760"/>
            <a:ext cx="2377440" cy="365760"/>
          </a:xfrm>
          <a:prstGeom prst="rect">
            <a:avLst/>
          </a:prstGeom>
          <a:noFill/>
        </p:spPr>
        <p:txBody>
          <a:bodyPr wrap="square" anchor="t" lIns="0" rIns="0">
            <a:spAutoFit/>
          </a:bodyPr>
          <a:lstStyle/>
          <a:p>
            <a:pPr algn="l"/>
            <a:r>
              <a:rPr sz="1100" b="0">
                <a:solidFill>
                  <a:srgbClr val="52514E"/>
                </a:solidFill>
                <a:latin typeface="Helvetica Neue"/>
              </a:rPr>
              <a:t>87% of transactions</a:t>
            </a:r>
          </a:p>
        </p:txBody>
      </p:sp>
      <p:sp>
        <p:nvSpPr>
          <p:cNvPr id="18" name="Rectangle 17"/>
          <p:cNvSpPr/>
          <p:nvPr/>
        </p:nvSpPr>
        <p:spPr>
          <a:xfrm>
            <a:off x="8997696" y="1645920"/>
            <a:ext cx="2651760" cy="141732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4856" y="1737360"/>
            <a:ext cx="2377440" cy="365760"/>
          </a:xfrm>
          <a:prstGeom prst="rect">
            <a:avLst/>
          </a:prstGeom>
          <a:noFill/>
        </p:spPr>
        <p:txBody>
          <a:bodyPr wrap="square" anchor="t" lIns="0" rIns="0">
            <a:spAutoFit/>
          </a:bodyPr>
          <a:lstStyle/>
          <a:p>
            <a:pPr algn="l"/>
            <a:r>
              <a:rPr sz="1200" b="0">
                <a:solidFill>
                  <a:srgbClr val="52514E"/>
                </a:solidFill>
                <a:latin typeface="Helvetica Neue"/>
              </a:rPr>
              <a:t>Next 12m, Base case with levers</a:t>
            </a:r>
          </a:p>
        </p:txBody>
      </p:sp>
      <p:sp>
        <p:nvSpPr>
          <p:cNvPr id="20" name="TextBox 19"/>
          <p:cNvSpPr txBox="1"/>
          <p:nvPr/>
        </p:nvSpPr>
        <p:spPr>
          <a:xfrm>
            <a:off x="9134856" y="2057400"/>
            <a:ext cx="2377440" cy="548640"/>
          </a:xfrm>
          <a:prstGeom prst="rect">
            <a:avLst/>
          </a:prstGeom>
          <a:noFill/>
        </p:spPr>
        <p:txBody>
          <a:bodyPr wrap="square" anchor="t" lIns="0" rIns="0">
            <a:spAutoFit/>
          </a:bodyPr>
          <a:lstStyle/>
          <a:p>
            <a:pPr algn="l"/>
            <a:r>
              <a:rPr sz="3000" b="1">
                <a:solidFill>
                  <a:srgbClr val="FF0420"/>
                </a:solidFill>
                <a:latin typeface="Helvetica Neue"/>
              </a:rPr>
              <a:t>$1.19M</a:t>
            </a:r>
          </a:p>
        </p:txBody>
      </p:sp>
      <p:sp>
        <p:nvSpPr>
          <p:cNvPr id="21" name="TextBox 20"/>
          <p:cNvSpPr txBox="1"/>
          <p:nvPr/>
        </p:nvSpPr>
        <p:spPr>
          <a:xfrm>
            <a:off x="9134856" y="2651760"/>
            <a:ext cx="2377440" cy="365760"/>
          </a:xfrm>
          <a:prstGeom prst="rect">
            <a:avLst/>
          </a:prstGeom>
          <a:noFill/>
        </p:spPr>
        <p:txBody>
          <a:bodyPr wrap="square" anchor="t" lIns="0" rIns="0">
            <a:spAutoFit/>
          </a:bodyPr>
          <a:lstStyle/>
          <a:p>
            <a:pPr algn="l"/>
            <a:r>
              <a:rPr sz="1100" b="0">
                <a:solidFill>
                  <a:srgbClr val="52514E"/>
                </a:solidFill>
                <a:latin typeface="Helvetica Neue"/>
              </a:rPr>
              <a:t>vs $0.90M with no action</a:t>
            </a:r>
          </a:p>
        </p:txBody>
      </p:sp>
      <p:sp>
        <p:nvSpPr>
          <p:cNvPr id="22" name="TextBox 21"/>
          <p:cNvSpPr txBox="1"/>
          <p:nvPr/>
        </p:nvSpPr>
        <p:spPr>
          <a:xfrm>
            <a:off x="548640" y="3246120"/>
            <a:ext cx="5486400" cy="274320"/>
          </a:xfrm>
          <a:prstGeom prst="rect">
            <a:avLst/>
          </a:prstGeom>
          <a:noFill/>
        </p:spPr>
        <p:txBody>
          <a:bodyPr wrap="square" anchor="t" lIns="0" rIns="0">
            <a:spAutoFit/>
          </a:bodyPr>
          <a:lstStyle/>
          <a:p>
            <a:pPr algn="l"/>
            <a:r>
              <a:rPr sz="1400" b="1">
                <a:solidFill>
                  <a:srgbClr val="0B0B0B"/>
                </a:solidFill>
                <a:latin typeface="Helvetica Neue"/>
              </a:rPr>
              <a:t>Finding &amp; evidence</a:t>
            </a:r>
          </a:p>
        </p:txBody>
      </p:sp>
      <p:sp>
        <p:nvSpPr>
          <p:cNvPr id="23" name="TextBox 22"/>
          <p:cNvSpPr txBox="1"/>
          <p:nvPr/>
        </p:nvSpPr>
        <p:spPr>
          <a:xfrm>
            <a:off x="548640" y="3566160"/>
            <a:ext cx="5577840" cy="2743200"/>
          </a:xfrm>
          <a:prstGeom prst="rect">
            <a:avLst/>
          </a:prstGeom>
          <a:noFill/>
        </p:spPr>
        <p:txBody>
          <a:bodyPr wrap="square" lIns="0" rIns="0">
            <a:spAutoFit/>
          </a:bodyPr>
          <a:lstStyle/>
          <a:p>
            <a:pPr>
              <a:spcAft>
                <a:spcPts val="400"/>
              </a:spcAft>
            </a:pPr>
            <a:r>
              <a:rPr sz="1200">
                <a:solidFill>
                  <a:srgbClr val="0B0B0B"/>
                </a:solidFill>
                <a:latin typeface="Helvetica Neue"/>
              </a:rPr>
              <a:t>▪  OP's take is small and shrinking because the price of blockspace (the transaction capacity OP sells) collapsed, not the volume. OP kept $1.216M net in the last 12 months, while apps on OP Mainnet collected $41.3M in fees.</a:t>
            </a:r>
          </a:p>
          <a:p>
            <a:pPr>
              <a:spcAft>
                <a:spcPts val="400"/>
              </a:spcAft>
            </a:pPr>
            <a:r>
              <a:rPr sz="1200">
                <a:solidFill>
                  <a:srgbClr val="0B0B0B"/>
                </a:solidFill>
                <a:latin typeface="Helvetica Neue"/>
              </a:rPr>
              <a:t>▪  Gross fees per day fell 70% ($11.6k to $3.4k) while transactions per day rose 71%. The price per unit of gas (compute) fell 76%.</a:t>
            </a:r>
          </a:p>
          <a:p>
            <a:pPr>
              <a:spcAft>
                <a:spcPts val="400"/>
              </a:spcAft>
            </a:pPr>
            <a:r>
              <a:rPr sz="1200">
                <a:solidFill>
                  <a:srgbClr val="0B0B0B"/>
                </a:solidFill>
                <a:latin typeface="Helvetica Neue"/>
              </a:rPr>
              <a:t>▪  Bots pay about two-thirds of fees (57% unnamed automated contracts plus 9% labelled MEV bots). Named apps pay 18%. The top 10 customers pay 50%.</a:t>
            </a:r>
          </a:p>
          <a:p>
            <a:pPr>
              <a:spcAft>
                <a:spcPts val="400"/>
              </a:spcAft>
            </a:pPr>
            <a:r>
              <a:rPr sz="1200">
                <a:solidFill>
                  <a:srgbClr val="0B0B0B"/>
                </a:solidFill>
                <a:latin typeface="Helvetica Neue"/>
              </a:rPr>
              <a:t>▪  Revenue is event-driven. The Oct 10 2025 crash day alone earned $250k, 20% of the year, and the 10 busiest days earned 32%.</a:t>
            </a:r>
          </a:p>
        </p:txBody>
      </p:sp>
      <p:sp>
        <p:nvSpPr>
          <p:cNvPr id="24" name="TextBox 23"/>
          <p:cNvSpPr txBox="1"/>
          <p:nvPr/>
        </p:nvSpPr>
        <p:spPr>
          <a:xfrm>
            <a:off x="6400800" y="3246120"/>
            <a:ext cx="5212080" cy="274320"/>
          </a:xfrm>
          <a:prstGeom prst="rect">
            <a:avLst/>
          </a:prstGeom>
          <a:noFill/>
        </p:spPr>
        <p:txBody>
          <a:bodyPr wrap="square" anchor="t" lIns="0" rIns="0">
            <a:spAutoFit/>
          </a:bodyPr>
          <a:lstStyle/>
          <a:p>
            <a:pPr algn="l"/>
            <a:r>
              <a:rPr sz="1400" b="1">
                <a:solidFill>
                  <a:srgbClr val="0B0B0B"/>
                </a:solidFill>
                <a:latin typeface="Helvetica Neue"/>
              </a:rPr>
              <a:t>So what</a:t>
            </a:r>
          </a:p>
        </p:txBody>
      </p:sp>
      <p:sp>
        <p:nvSpPr>
          <p:cNvPr id="25" name="TextBox 24"/>
          <p:cNvSpPr txBox="1"/>
          <p:nvPr/>
        </p:nvSpPr>
        <p:spPr>
          <a:xfrm>
            <a:off x="6400800" y="3566160"/>
            <a:ext cx="5212080" cy="1188720"/>
          </a:xfrm>
          <a:prstGeom prst="rect">
            <a:avLst/>
          </a:prstGeom>
          <a:noFill/>
        </p:spPr>
        <p:txBody>
          <a:bodyPr wrap="square" anchor="t" lIns="0" rIns="0">
            <a:spAutoFit/>
          </a:bodyPr>
          <a:lstStyle/>
          <a:p>
            <a:pPr algn="l"/>
            <a:r>
              <a:rPr sz="1300" b="0">
                <a:solidFill>
                  <a:srgbClr val="0B0B0B"/>
                </a:solidFill>
                <a:latin typeface="Helvetica Neue"/>
              </a:rPr>
              <a:t>With no action, net revenue for the next 12 months falls to $0.90M (-26%). Demand barely responded when blockspace got cheaper (+0.38% transactions per 1% price drop), so we should work on price, not volume.</a:t>
            </a:r>
          </a:p>
        </p:txBody>
      </p:sp>
      <p:sp>
        <p:nvSpPr>
          <p:cNvPr id="26" name="TextBox 25"/>
          <p:cNvSpPr txBox="1"/>
          <p:nvPr/>
        </p:nvSpPr>
        <p:spPr>
          <a:xfrm>
            <a:off x="6400800" y="4754880"/>
            <a:ext cx="5212080" cy="274320"/>
          </a:xfrm>
          <a:prstGeom prst="rect">
            <a:avLst/>
          </a:prstGeom>
          <a:noFill/>
        </p:spPr>
        <p:txBody>
          <a:bodyPr wrap="square" anchor="t" lIns="0" rIns="0">
            <a:spAutoFit/>
          </a:bodyPr>
          <a:lstStyle/>
          <a:p>
            <a:pPr algn="l"/>
            <a:r>
              <a:rPr sz="1400" b="1">
                <a:solidFill>
                  <a:srgbClr val="FF0420"/>
                </a:solidFill>
                <a:latin typeface="Helvetica Neue"/>
              </a:rPr>
              <a:t>Recommended action</a:t>
            </a:r>
          </a:p>
        </p:txBody>
      </p:sp>
      <p:sp>
        <p:nvSpPr>
          <p:cNvPr id="27" name="TextBox 26"/>
          <p:cNvSpPr txBox="1"/>
          <p:nvPr/>
        </p:nvSpPr>
        <p:spPr>
          <a:xfrm>
            <a:off x="6400800" y="5074920"/>
            <a:ext cx="5212080" cy="1188720"/>
          </a:xfrm>
          <a:prstGeom prst="rect">
            <a:avLst/>
          </a:prstGeom>
          <a:noFill/>
        </p:spPr>
        <p:txBody>
          <a:bodyPr wrap="square" anchor="t" lIns="0" rIns="0">
            <a:spAutoFit/>
          </a:bodyPr>
          <a:lstStyle/>
          <a:p>
            <a:pPr algn="l"/>
            <a:r>
              <a:rPr sz="1300" b="0">
                <a:solidFill>
                  <a:srgbClr val="0B0B0B"/>
                </a:solidFill>
                <a:latin typeface="Helvetica Neue"/>
              </a:rPr>
              <a:t>Phase in a minimum base fee toward 2.5 mwei/gas, re-tune the L1 data fee scalars, sign payments issuers and pursue chains as OP Enterprise customers. Base case: $1.19M, +32% versus no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3</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APPROACH</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We define our share as user fees minus Ethereum posting costs.</a:t>
            </a:r>
          </a:p>
        </p:txBody>
      </p:sp>
      <p:sp>
        <p:nvSpPr>
          <p:cNvPr id="6" name="TextBox 5"/>
          <p:cNvSpPr txBox="1"/>
          <p:nvPr/>
        </p:nvSpPr>
        <p:spPr>
          <a:xfrm>
            <a:off x="548640" y="1645920"/>
            <a:ext cx="5669280" cy="4389120"/>
          </a:xfrm>
          <a:prstGeom prst="rect">
            <a:avLst/>
          </a:prstGeom>
          <a:noFill/>
        </p:spPr>
        <p:txBody>
          <a:bodyPr wrap="square" lIns="0" rIns="0">
            <a:spAutoFit/>
          </a:bodyPr>
          <a:lstStyle/>
          <a:p>
            <a:pPr>
              <a:spcAft>
                <a:spcPts val="800"/>
              </a:spcAft>
            </a:pPr>
            <a:r>
              <a:rPr sz="1500">
                <a:solidFill>
                  <a:srgbClr val="0B0B0B"/>
                </a:solidFill>
                <a:latin typeface="Helvetica Neue"/>
              </a:rPr>
              <a:t>▪  Our share = sequencer revenue: fees paid to OP's block producer (the sequencer), minus the L1 data cost of posting to Ethereum.</a:t>
            </a:r>
          </a:p>
          <a:p>
            <a:pPr>
              <a:spcAft>
                <a:spcPts val="800"/>
              </a:spcAft>
            </a:pPr>
            <a:r>
              <a:rPr sz="1500">
                <a:solidFill>
                  <a:srgbClr val="0B0B0B"/>
                </a:solidFill>
                <a:latin typeface="Helvetica Neue"/>
              </a:rPr>
              <a:t>▪  Window: the last 12 months (Sep 16 2025 to Sep 15 2026) against the prior 258 days, compared per day.</a:t>
            </a:r>
          </a:p>
          <a:p>
            <a:pPr>
              <a:spcAft>
                <a:spcPts val="800"/>
              </a:spcAft>
            </a:pPr>
            <a:r>
              <a:rPr sz="1500">
                <a:solidFill>
                  <a:srgbClr val="0B0B0B"/>
                </a:solidFill>
                <a:latin typeface="Helvetica Neue"/>
              </a:rPr>
              <a:t>▪  Fee change split into four drivers: transactions, gas (compute units) per transaction, price per unit of gas, and ETH/USD.</a:t>
            </a:r>
          </a:p>
          <a:p>
            <a:pPr>
              <a:spcAft>
                <a:spcPts val="800"/>
              </a:spcAft>
            </a:pPr>
            <a:r>
              <a:rPr sz="1500">
                <a:solidFill>
                  <a:srgbClr val="0B0B0B"/>
                </a:solidFill>
                <a:latin typeface="Helvetica Neue"/>
              </a:rPr>
              <a:t>▪  Fees assigned to the contract each transaction calls: 724 paying customers, grouped into apps, bots and the long tail.</a:t>
            </a:r>
          </a:p>
        </p:txBody>
      </p:sp>
      <p:sp>
        <p:nvSpPr>
          <p:cNvPr id="7" name="Rectangle 6"/>
          <p:cNvSpPr/>
          <p:nvPr/>
        </p:nvSpPr>
        <p:spPr>
          <a:xfrm>
            <a:off x="6583680" y="1645920"/>
            <a:ext cx="5029200" cy="448056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1783080"/>
            <a:ext cx="4663440" cy="365760"/>
          </a:xfrm>
          <a:prstGeom prst="rect">
            <a:avLst/>
          </a:prstGeom>
          <a:noFill/>
        </p:spPr>
        <p:txBody>
          <a:bodyPr wrap="square" anchor="t" lIns="0" rIns="0">
            <a:spAutoFit/>
          </a:bodyPr>
          <a:lstStyle/>
          <a:p>
            <a:pPr algn="l"/>
            <a:r>
              <a:rPr sz="1400" b="1">
                <a:solidFill>
                  <a:srgbClr val="0B0B0B"/>
                </a:solidFill>
                <a:latin typeface="Helvetica Neue"/>
              </a:rPr>
              <a:t>Data checks run on every build: 13/13 pass</a:t>
            </a:r>
          </a:p>
        </p:txBody>
      </p:sp>
      <p:sp>
        <p:nvSpPr>
          <p:cNvPr id="9" name="TextBox 8"/>
          <p:cNvSpPr txBox="1"/>
          <p:nvPr/>
        </p:nvSpPr>
        <p:spPr>
          <a:xfrm>
            <a:off x="6766560" y="2194560"/>
            <a:ext cx="4663440" cy="3840480"/>
          </a:xfrm>
          <a:prstGeom prst="rect">
            <a:avLst/>
          </a:prstGeom>
          <a:noFill/>
        </p:spPr>
        <p:txBody>
          <a:bodyPr wrap="square" lIns="0" rIns="0">
            <a:spAutoFit/>
          </a:bodyPr>
          <a:lstStyle/>
          <a:p>
            <a:pPr>
              <a:spcAft>
                <a:spcPts val="300"/>
              </a:spcAft>
            </a:pPr>
            <a:r>
              <a:rPr sz="1100">
                <a:solidFill>
                  <a:srgbClr val="0B0B0B"/>
                </a:solidFill>
                <a:latin typeface="Helvetica Neue"/>
              </a:rPr>
              <a:t>▪  06 fees reconcile to 01 (max daily deviation): 0.01215%</a:t>
            </a:r>
          </a:p>
          <a:p>
            <a:pPr>
              <a:spcAft>
                <a:spcPts val="300"/>
              </a:spcAft>
            </a:pPr>
            <a:r>
              <a:rPr sz="1100">
                <a:solidFill>
                  <a:srgbClr val="0B0B0B"/>
                </a:solidFill>
                <a:latin typeface="Helvetica Neue"/>
              </a:rPr>
              <a:t>▪  06 txs reconcile to 01 (max daily deviation): 0.00000%</a:t>
            </a:r>
          </a:p>
          <a:p>
            <a:pPr>
              <a:spcAft>
                <a:spcPts val="300"/>
              </a:spcAft>
            </a:pPr>
            <a:r>
              <a:rPr sz="1100">
                <a:solidFill>
                  <a:srgbClr val="0B0B0B"/>
                </a:solidFill>
                <a:latin typeface="Helvetica Neue"/>
              </a:rPr>
              <a:t>▪  01 USD = ETH x price: 0.000000%</a:t>
            </a:r>
          </a:p>
          <a:p>
            <a:pPr>
              <a:spcAft>
                <a:spcPts val="300"/>
              </a:spcAft>
            </a:pPr>
            <a:r>
              <a:rPr sz="1100">
                <a:solidFill>
                  <a:srgbClr val="0B0B0B"/>
                </a:solidFill>
                <a:latin typeface="Helvetica Neue"/>
              </a:rPr>
              <a:t>▪  01 price matches 02: 0.000000%</a:t>
            </a:r>
          </a:p>
          <a:p>
            <a:pPr>
              <a:spcAft>
                <a:spcPts val="300"/>
              </a:spcAft>
            </a:pPr>
            <a:r>
              <a:rPr sz="1100">
                <a:solidFill>
                  <a:srgbClr val="0B0B0B"/>
                </a:solidFill>
                <a:latin typeface="Helvetica Neue"/>
              </a:rPr>
              <a:t>▪  01 execution + L1 data = total (ETH): 3.55e-15 ETH</a:t>
            </a:r>
          </a:p>
          <a:p>
            <a:pPr>
              <a:spcAft>
                <a:spcPts val="300"/>
              </a:spcAft>
            </a:pPr>
            <a:r>
              <a:rPr sz="1100">
                <a:solidFill>
                  <a:srgbClr val="0B0B0B"/>
                </a:solidFill>
                <a:latin typeface="Helvetica Neue"/>
              </a:rPr>
              <a:t>▪  06 unique (date, to_address): 0</a:t>
            </a:r>
          </a:p>
          <a:p>
            <a:pPr>
              <a:spcAft>
                <a:spcPts val="300"/>
              </a:spcAft>
            </a:pPr>
            <a:r>
              <a:rPr sz="1100">
                <a:solidFill>
                  <a:srgbClr val="0B0B0B"/>
                </a:solidFill>
                <a:latin typeface="Helvetica Neue"/>
              </a:rPr>
              <a:t>▪  01 one row per day, no gaps: 623 days 2025-01-01..2026-09-15</a:t>
            </a:r>
          </a:p>
          <a:p>
            <a:pPr>
              <a:spcAft>
                <a:spcPts val="300"/>
              </a:spcAft>
            </a:pPr>
            <a:r>
              <a:rPr sz="1100">
                <a:solidFill>
                  <a:srgbClr val="0B0B0B"/>
                </a:solidFill>
                <a:latin typeface="Helvetica Neue"/>
              </a:rPr>
              <a:t>▪  last-12-month window = 365 days: 365</a:t>
            </a:r>
          </a:p>
          <a:p>
            <a:pPr>
              <a:spcAft>
                <a:spcPts val="300"/>
              </a:spcAft>
            </a:pPr>
            <a:r>
              <a:rPr sz="1100">
                <a:solidFill>
                  <a:srgbClr val="0B0B0B"/>
                </a:solidFill>
                <a:latin typeface="Helvetica Neue"/>
              </a:rPr>
              <a:t>▪  07 labels: one row per tracked address: 1082 labels / 1082 addresses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4</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1 · DIAGNOSE THE REVENUE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We kept $1.22M net last year; the run-rate is now $49.7k/month.</a:t>
            </a:r>
          </a:p>
        </p:txBody>
      </p:sp>
      <p:pic>
        <p:nvPicPr>
          <p:cNvPr id="6" name="Picture 5" descr="01_revenue_monthly.png"/>
          <p:cNvPicPr>
            <a:picLocks noChangeAspect="1"/>
          </p:cNvPicPr>
          <p:nvPr/>
        </p:nvPicPr>
        <p:blipFill>
          <a:blip r:embed="rId2"/>
          <a:stretch>
            <a:fillRect/>
          </a:stretch>
        </p:blipFill>
        <p:spPr>
          <a:xfrm>
            <a:off x="548640" y="1600200"/>
            <a:ext cx="7680960" cy="4021402"/>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Last-12-month gross user fees were $1.256M (430 ETH). L1 cost was $40k, so net sequencer revenue was $1.216M, a 96.8% margin.</a:t>
            </a:r>
          </a:p>
          <a:p>
            <a:pPr>
              <a:spcAft>
                <a:spcPts val="800"/>
              </a:spcAft>
            </a:pPr>
            <a:r>
              <a:rPr sz="1400">
                <a:solidFill>
                  <a:srgbClr val="0B0B0B"/>
                </a:solidFill>
                <a:latin typeface="Helvetica Neue"/>
              </a:rPr>
              <a:t>▪  Gross fees per day fell 70%, from $11.6k in the prior period to $3.4k.</a:t>
            </a:r>
          </a:p>
          <a:p>
            <a:pPr>
              <a:spcAft>
                <a:spcPts val="800"/>
              </a:spcAft>
            </a:pPr>
            <a:r>
              <a:rPr sz="1400">
                <a:solidFill>
                  <a:srgbClr val="0B0B0B"/>
                </a:solidFill>
                <a:latin typeface="Helvetica Neue"/>
              </a:rPr>
              <a:t>▪  Jun to Aug 2026 averaged $50.5k/month gross, against $680k in Jan 2025 alone.</a:t>
            </a:r>
          </a:p>
          <a:p>
            <a:pPr>
              <a:spcAft>
                <a:spcPts val="800"/>
              </a:spcAft>
            </a:pPr>
            <a:r>
              <a:rPr sz="1400">
                <a:solidFill>
                  <a:srgbClr val="0B0B0B"/>
                </a:solidFill>
                <a:latin typeface="Helvetica Neue"/>
              </a:rPr>
              <a:t>▪  The margin holds on either cost source: L1 cost is 5.6% of gross (growthepie) or 2.1% (DefiLlama). Net stays at about 95-97%.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5</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1 · DIAGNOSE THE REVENUE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Volume grew, but blockspace prices collapsed 76% and drove the decline.</a:t>
            </a:r>
          </a:p>
        </p:txBody>
      </p:sp>
      <p:pic>
        <p:nvPicPr>
          <p:cNvPr id="6" name="Picture 5" descr="03_decomposition.png"/>
          <p:cNvPicPr>
            <a:picLocks noChangeAspect="1"/>
          </p:cNvPicPr>
          <p:nvPr/>
        </p:nvPicPr>
        <p:blipFill>
          <a:blip r:embed="rId2"/>
          <a:stretch>
            <a:fillRect/>
          </a:stretch>
        </p:blipFill>
        <p:spPr>
          <a:xfrm>
            <a:off x="548640" y="1600200"/>
            <a:ext cx="7680960" cy="4137768"/>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Transactions per day rose 71% (1.03M to 1.76M), adding $3.6k/day of fees.</a:t>
            </a:r>
          </a:p>
          <a:p>
            <a:pPr>
              <a:spcAft>
                <a:spcPts val="800"/>
              </a:spcAft>
            </a:pPr>
            <a:r>
              <a:rPr sz="1400">
                <a:solidFill>
                  <a:srgbClr val="0B0B0B"/>
                </a:solidFill>
                <a:latin typeface="Helvetica Neue"/>
              </a:rPr>
              <a:t>▪  Gas (compute units) per transaction fell 35%, removing $2.9k/day.</a:t>
            </a:r>
          </a:p>
          <a:p>
            <a:pPr>
              <a:spcAft>
                <a:spcPts val="800"/>
              </a:spcAft>
            </a:pPr>
            <a:r>
              <a:rPr sz="1400">
                <a:solidFill>
                  <a:srgbClr val="0B0B0B"/>
                </a:solidFill>
                <a:latin typeface="Helvetica Neue"/>
              </a:rPr>
              <a:t>▪  The price paid per unit of gas fell 76%, removing $9.5k/day: the main driver of the -$8.2k/day change.</a:t>
            </a:r>
          </a:p>
          <a:p>
            <a:pPr>
              <a:spcAft>
                <a:spcPts val="800"/>
              </a:spcAft>
            </a:pPr>
            <a:r>
              <a:rPr sz="1400">
                <a:solidFill>
                  <a:srgbClr val="0B0B0B"/>
                </a:solidFill>
                <a:latin typeface="Helvetica Neue"/>
              </a:rPr>
              <a:t>▪  Daily active addresses fell from ~81k to ~21k while transactions doubled, so the volume is automated.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6</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1 · DIAGNOSE THE REVENUE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Revenue is event-driven: one crash day earned 20% of the year.</a:t>
            </a:r>
          </a:p>
        </p:txBody>
      </p:sp>
      <p:pic>
        <p:nvPicPr>
          <p:cNvPr id="6" name="Picture 5" descr="04_daily_spikes.png"/>
          <p:cNvPicPr>
            <a:picLocks noChangeAspect="1"/>
          </p:cNvPicPr>
          <p:nvPr/>
        </p:nvPicPr>
        <p:blipFill>
          <a:blip r:embed="rId2"/>
          <a:stretch>
            <a:fillRect/>
          </a:stretch>
        </p:blipFill>
        <p:spPr>
          <a:xfrm>
            <a:off x="548640" y="1600200"/>
            <a:ext cx="7680960" cy="3555256"/>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The Oct 10 2025 market crash earned $250k, at 73x the median day's price of 1.28 mwei/gas.</a:t>
            </a:r>
          </a:p>
          <a:p>
            <a:pPr>
              <a:spcAft>
                <a:spcPts val="800"/>
              </a:spcAft>
            </a:pPr>
            <a:r>
              <a:rPr sz="1400">
                <a:solidFill>
                  <a:srgbClr val="0B0B0B"/>
                </a:solidFill>
                <a:latin typeface="Helvetica Neue"/>
              </a:rPr>
              <a:t>▪  The 10 busiest days delivered 32% of last-12-month fees.</a:t>
            </a:r>
          </a:p>
          <a:p>
            <a:pPr>
              <a:spcAft>
                <a:spcPts val="800"/>
              </a:spcAft>
            </a:pPr>
            <a:r>
              <a:rPr sz="1400">
                <a:solidFill>
                  <a:srgbClr val="0B0B0B"/>
                </a:solidFill>
                <a:latin typeface="Helvetica Neue"/>
              </a:rPr>
              <a:t>▪  About 40% of fees (173 of 430 ETH) was a congestion premium paid above the median price.</a:t>
            </a:r>
          </a:p>
          <a:p>
            <a:pPr>
              <a:spcAft>
                <a:spcPts val="800"/>
              </a:spcAft>
            </a:pPr>
            <a:r>
              <a:rPr sz="1400">
                <a:solidFill>
                  <a:srgbClr val="0B0B0B"/>
                </a:solidFill>
                <a:latin typeface="Helvetica Neue"/>
              </a:rPr>
              <a:t>▪  Budget off the base load and treat spikes as upside we cannot schedule.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7</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1 · WHO IS MAKING MONEY</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Apps collected $41.3M in fees; OP's gross take was $1.26M.</a:t>
            </a:r>
          </a:p>
        </p:txBody>
      </p:sp>
      <p:pic>
        <p:nvPicPr>
          <p:cNvPr id="6" name="Picture 5" descr="07_apps_vs_op.png"/>
          <p:cNvPicPr>
            <a:picLocks noChangeAspect="1"/>
          </p:cNvPicPr>
          <p:nvPr/>
        </p:nvPicPr>
        <p:blipFill>
          <a:blip r:embed="rId2"/>
          <a:stretch>
            <a:fillRect/>
          </a:stretch>
        </p:blipFill>
        <p:spPr>
          <a:xfrm>
            <a:off x="548640" y="1600200"/>
            <a:ext cx="7680960" cy="4342973"/>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Apps on OP Mainnet earned $41.3M in fees and kept $17.4M as revenue (DefiLlama).</a:t>
            </a:r>
          </a:p>
          <a:p>
            <a:pPr>
              <a:spcAft>
                <a:spcPts val="800"/>
              </a:spcAft>
            </a:pPr>
            <a:r>
              <a:rPr sz="1400">
                <a:solidFill>
                  <a:srgbClr val="0B0B0B"/>
                </a:solidFill>
                <a:latin typeface="Helvetica Neue"/>
              </a:rPr>
              <a:t>▪  OP's gross take of $1.26M is about 3% of what apps collect.</a:t>
            </a:r>
          </a:p>
          <a:p>
            <a:pPr>
              <a:spcAft>
                <a:spcPts val="800"/>
              </a:spcAft>
            </a:pPr>
            <a:r>
              <a:rPr sz="1400">
                <a:solidFill>
                  <a:srgbClr val="0B0B0B"/>
                </a:solidFill>
                <a:latin typeface="Helvetica Neue"/>
              </a:rPr>
              <a:t>▪  ether.fi earned $18.5M in app fees and $7.1M revenue, but its contracts paid OP only $10k in gas.</a:t>
            </a:r>
          </a:p>
          <a:p>
            <a:pPr>
              <a:spcAft>
                <a:spcPts val="800"/>
              </a:spcAft>
            </a:pPr>
            <a:r>
              <a:rPr sz="1400">
                <a:solidFill>
                  <a:srgbClr val="0B0B0B"/>
                </a:solidFill>
                <a:latin typeface="Helvetica Neue"/>
              </a:rPr>
              <a:t>▪  Uniswap $3.75M fees / $27k gas; Velodrome $3.36M / $7.6k; Chainlink $3.0M / $21k; Aave $2.1M / $0.6k.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8</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2 · IDENTIFY THE CUSTOMERS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Bots pay about two-thirds of our revenue; named apps pay 18%.</a:t>
            </a:r>
          </a:p>
        </p:txBody>
      </p:sp>
      <p:pic>
        <p:nvPicPr>
          <p:cNvPr id="6" name="Picture 5" descr="05_segments.png"/>
          <p:cNvPicPr>
            <a:picLocks noChangeAspect="1"/>
          </p:cNvPicPr>
          <p:nvPr/>
        </p:nvPicPr>
        <p:blipFill>
          <a:blip r:embed="rId2"/>
          <a:stretch>
            <a:fillRect/>
          </a:stretch>
        </p:blipFill>
        <p:spPr>
          <a:xfrm>
            <a:off x="548640" y="1508760"/>
            <a:ext cx="8859562" cy="3566160"/>
          </a:xfrm>
          <a:prstGeom prst="rect">
            <a:avLst/>
          </a:prstGeom>
        </p:spPr>
      </p:pic>
      <p:sp>
        <p:nvSpPr>
          <p:cNvPr id="7" name="TextBox 6"/>
          <p:cNvSpPr txBox="1"/>
          <p:nvPr/>
        </p:nvSpPr>
        <p:spPr>
          <a:xfrm>
            <a:off x="548640" y="5212080"/>
            <a:ext cx="11064240" cy="1188720"/>
          </a:xfrm>
          <a:prstGeom prst="rect">
            <a:avLst/>
          </a:prstGeom>
          <a:noFill/>
        </p:spPr>
        <p:txBody>
          <a:bodyPr wrap="square" lIns="0" rIns="0">
            <a:spAutoFit/>
          </a:bodyPr>
          <a:lstStyle/>
          <a:p>
            <a:pPr>
              <a:spcAft>
                <a:spcPts val="300"/>
              </a:spcAft>
            </a:pPr>
            <a:r>
              <a:rPr sz="1300">
                <a:solidFill>
                  <a:srgbClr val="0B0B0B"/>
                </a:solidFill>
                <a:latin typeface="Helvetica Neue"/>
              </a:rPr>
              <a:t>▪  Unnamed automated contracts (bots) pay 57% of fees and send 86% of transactions.</a:t>
            </a:r>
          </a:p>
          <a:p>
            <a:pPr>
              <a:spcAft>
                <a:spcPts val="300"/>
              </a:spcAft>
            </a:pPr>
            <a:r>
              <a:rPr sz="1300">
                <a:solidFill>
                  <a:srgbClr val="0B0B0B"/>
                </a:solidFill>
                <a:latin typeface="Helvetica Neue"/>
              </a:rPr>
              <a:t>▪  Labelled MEV bots, which profit from the order of trades, pay 9% of fees with 1% of transactions.</a:t>
            </a:r>
          </a:p>
          <a:p>
            <a:pPr>
              <a:spcAft>
                <a:spcPts val="300"/>
              </a:spcAft>
            </a:pPr>
            <a:r>
              <a:rPr sz="1300">
                <a:solidFill>
                  <a:srgbClr val="0B0B0B"/>
                </a:solidFill>
                <a:latin typeface="Helvetica Neue"/>
              </a:rPr>
              <a:t>▪  Named apps and infrastructure pay 18% of fees with 8% of transactions.</a:t>
            </a:r>
          </a:p>
          <a:p>
            <a:pPr>
              <a:spcAft>
                <a:spcPts val="300"/>
              </a:spcAft>
            </a:pPr>
            <a:r>
              <a:rPr sz="1300">
                <a:solidFill>
                  <a:srgbClr val="0B0B0B"/>
                </a:solidFill>
                <a:latin typeface="Helvetica Neue"/>
              </a:rPr>
              <a:t>▪  The long tail of small contracts pays 11%; unnamed multi-user contracts pay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9</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2 · IDENTIFY THE CUSTOMERS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Revenue is concentrated: ten customers pay half, and seven are bots.</a:t>
            </a:r>
          </a:p>
        </p:txBody>
      </p:sp>
      <p:pic>
        <p:nvPicPr>
          <p:cNvPr id="6" name="Picture 5" descr="06_top_customers.png"/>
          <p:cNvPicPr>
            <a:picLocks noChangeAspect="1"/>
          </p:cNvPicPr>
          <p:nvPr/>
        </p:nvPicPr>
        <p:blipFill>
          <a:blip r:embed="rId2"/>
          <a:stretch>
            <a:fillRect/>
          </a:stretch>
        </p:blipFill>
        <p:spPr>
          <a:xfrm>
            <a:off x="548640" y="1600200"/>
            <a:ext cx="7680960" cy="3475061"/>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Of 724 paying customers, the top 10 pay 50% of fees and the top 50 pay 81%.</a:t>
            </a:r>
          </a:p>
          <a:p>
            <a:pPr>
              <a:spcAft>
                <a:spcPts val="800"/>
              </a:spcAft>
            </a:pPr>
            <a:r>
              <a:rPr sz="1400">
                <a:solidFill>
                  <a:srgbClr val="0B0B0B"/>
                </a:solidFill>
                <a:latin typeface="Helvetica Neue"/>
              </a:rPr>
              <a:t>▪  Seven of the top 10 are bots or MEV searchers, not named consumer apps.</a:t>
            </a:r>
          </a:p>
          <a:p>
            <a:pPr>
              <a:spcAft>
                <a:spcPts val="800"/>
              </a:spcAft>
            </a:pPr>
            <a:r>
              <a:rPr sz="1400">
                <a:solidFill>
                  <a:srgbClr val="0B0B0B"/>
                </a:solidFill>
                <a:latin typeface="Helvetica Neue"/>
              </a:rPr>
              <a:t>▪  The HHI concentration index is 443, low overall, but key-account exposure at the top is real.</a:t>
            </a:r>
          </a:p>
          <a:p>
            <a:pPr>
              <a:spcAft>
                <a:spcPts val="800"/>
              </a:spcAft>
            </a:pPr>
            <a:r>
              <a:rPr sz="1400">
                <a:solidFill>
                  <a:srgbClr val="0B0B0B"/>
                </a:solidFill>
                <a:latin typeface="Helvetica Neue"/>
              </a:rPr>
              <a:t>▪  Some searchers pay up to $350 per transaction on spike days through priority-fee auctions.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10</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2 · IDENTIFY THE CUSTOMERS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Paying customers churn fast: only ~53% still pay three months later.</a:t>
            </a:r>
          </a:p>
        </p:txBody>
      </p:sp>
      <p:pic>
        <p:nvPicPr>
          <p:cNvPr id="6" name="Picture 5" descr="12_retention.png"/>
          <p:cNvPicPr>
            <a:picLocks noChangeAspect="1"/>
          </p:cNvPicPr>
          <p:nvPr/>
        </p:nvPicPr>
        <p:blipFill>
          <a:blip r:embed="rId2"/>
          <a:stretch>
            <a:fillRect/>
          </a:stretch>
        </p:blipFill>
        <p:spPr>
          <a:xfrm>
            <a:off x="548640" y="1600200"/>
            <a:ext cx="7680960" cy="3543229"/>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Of addresses paying at least $10/month, only ~53% are still paying three months later.</a:t>
            </a:r>
          </a:p>
          <a:p>
            <a:pPr>
              <a:spcAft>
                <a:spcPts val="800"/>
              </a:spcAft>
            </a:pPr>
            <a:r>
              <a:rPr sz="1400">
                <a:solidFill>
                  <a:srgbClr val="0B0B0B"/>
                </a:solidFill>
                <a:latin typeface="Helvetica Neue"/>
              </a:rPr>
              <a:t>▪  Three-month net revenue retention averages 43%, so a cohort's spend shrinks by more than half.</a:t>
            </a:r>
          </a:p>
          <a:p>
            <a:pPr>
              <a:spcAft>
                <a:spcPts val="800"/>
              </a:spcAft>
            </a:pPr>
            <a:r>
              <a:rPr sz="1400">
                <a:solidFill>
                  <a:srgbClr val="0B0B0B"/>
                </a:solidFill>
                <a:latin typeface="Helvetica Neue"/>
              </a:rPr>
              <a:t>▪  The revenue base turns over constantly. Growth needs a steady pipeline of new flow, not just existing payers.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11</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2 · OTHER CUSTOMER TARGETS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Payments flow is the growth signal; most other ecosystem metrics shrank.</a:t>
            </a:r>
          </a:p>
        </p:txBody>
      </p:sp>
      <p:pic>
        <p:nvPicPr>
          <p:cNvPr id="6" name="Picture 5" descr="08_ecosystem.png"/>
          <p:cNvPicPr>
            <a:picLocks noChangeAspect="1"/>
          </p:cNvPicPr>
          <p:nvPr/>
        </p:nvPicPr>
        <p:blipFill>
          <a:blip r:embed="rId2"/>
          <a:stretch>
            <a:fillRect/>
          </a:stretch>
        </p:blipFill>
        <p:spPr>
          <a:xfrm>
            <a:off x="548640" y="1508760"/>
            <a:ext cx="11064240" cy="3120040"/>
          </a:xfrm>
          <a:prstGeom prst="rect">
            <a:avLst/>
          </a:prstGeom>
        </p:spPr>
      </p:pic>
      <p:sp>
        <p:nvSpPr>
          <p:cNvPr id="7" name="TextBox 6"/>
          <p:cNvSpPr txBox="1"/>
          <p:nvPr/>
        </p:nvSpPr>
        <p:spPr>
          <a:xfrm>
            <a:off x="548640" y="5212080"/>
            <a:ext cx="11064240" cy="1188720"/>
          </a:xfrm>
          <a:prstGeom prst="rect">
            <a:avLst/>
          </a:prstGeom>
          <a:noFill/>
        </p:spPr>
        <p:txBody>
          <a:bodyPr wrap="square" lIns="0" rIns="0">
            <a:spAutoFit/>
          </a:bodyPr>
          <a:lstStyle/>
          <a:p>
            <a:pPr>
              <a:spcAft>
                <a:spcPts val="300"/>
              </a:spcAft>
            </a:pPr>
            <a:r>
              <a:rPr sz="1300">
                <a:solidFill>
                  <a:srgbClr val="0B0B0B"/>
                </a:solidFill>
                <a:latin typeface="Helvetica Neue"/>
              </a:rPr>
              <a:t>▪  Adjusted stablecoin transfer volume rose 67%, from $1.08B to $1.81B per quarter (Q3 2025 to Q3 2026).</a:t>
            </a:r>
          </a:p>
          <a:p>
            <a:pPr>
              <a:spcAft>
                <a:spcPts val="300"/>
              </a:spcAft>
            </a:pPr>
            <a:r>
              <a:rPr sz="1300">
                <a:solidFill>
                  <a:srgbClr val="0B0B0B"/>
                </a:solidFill>
                <a:latin typeface="Helvetica Neue"/>
              </a:rPr>
              <a:t>▪  But stablecoin supply fell: native from $279M to $208M, bridged from $382M to $268M.</a:t>
            </a:r>
          </a:p>
          <a:p>
            <a:pPr>
              <a:spcAft>
                <a:spcPts val="300"/>
              </a:spcAft>
            </a:pPr>
            <a:r>
              <a:rPr sz="1300">
                <a:solidFill>
                  <a:srgbClr val="0B0B0B"/>
                </a:solidFill>
                <a:latin typeface="Helvetica Neue"/>
              </a:rPr>
              <a:t>▪  Bridges now bring in more than they send out ($1.08B in versus $0.71B out per quarter).</a:t>
            </a:r>
          </a:p>
          <a:p>
            <a:pPr>
              <a:spcAft>
                <a:spcPts val="300"/>
              </a:spcAft>
            </a:pPr>
            <a:r>
              <a:rPr sz="1300">
                <a:solidFill>
                  <a:srgbClr val="0B0B0B"/>
                </a:solidFill>
                <a:latin typeface="Helvetica Neue"/>
              </a:rPr>
              <a:t>▪  Base left the Superchain revenue share in Feb 2026. It had been ~90% of Collective inflows in Jan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12</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RECOMMENDATION</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600" b="1">
                <a:solidFill>
                  <a:srgbClr val="0B0B0B"/>
                </a:solidFill>
                <a:latin typeface="Helvetica Neue"/>
              </a:rPr>
              <a:t>Price blockspace with a staged minimum base fee</a:t>
            </a:r>
          </a:p>
        </p:txBody>
      </p:sp>
      <p:sp>
        <p:nvSpPr>
          <p:cNvPr id="6" name="Rectangle 5"/>
          <p:cNvSpPr/>
          <p:nvPr/>
        </p:nvSpPr>
        <p:spPr>
          <a:xfrm>
            <a:off x="548640"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029200" cy="274320"/>
          </a:xfrm>
          <a:prstGeom prst="rect">
            <a:avLst/>
          </a:prstGeom>
          <a:noFill/>
        </p:spPr>
        <p:txBody>
          <a:bodyPr wrap="square" anchor="t" lIns="0" rIns="0">
            <a:spAutoFit/>
          </a:bodyPr>
          <a:lstStyle/>
          <a:p>
            <a:pPr algn="l"/>
            <a:r>
              <a:rPr sz="1300" b="1">
                <a:solidFill>
                  <a:srgbClr val="52514E"/>
                </a:solidFill>
                <a:latin typeface="Helvetica Neue"/>
              </a:rPr>
              <a:t>Finding</a:t>
            </a:r>
          </a:p>
        </p:txBody>
      </p:sp>
      <p:sp>
        <p:nvSpPr>
          <p:cNvPr id="8" name="TextBox 7"/>
          <p:cNvSpPr txBox="1"/>
          <p:nvPr/>
        </p:nvSpPr>
        <p:spPr>
          <a:xfrm>
            <a:off x="731520" y="1847088"/>
            <a:ext cx="5074920" cy="914400"/>
          </a:xfrm>
          <a:prstGeom prst="rect">
            <a:avLst/>
          </a:prstGeom>
          <a:noFill/>
        </p:spPr>
        <p:txBody>
          <a:bodyPr wrap="square" anchor="t" lIns="0" rIns="0">
            <a:spAutoFit/>
          </a:bodyPr>
          <a:lstStyle/>
          <a:p>
            <a:pPr algn="l"/>
            <a:r>
              <a:rPr sz="1200" b="0">
                <a:solidFill>
                  <a:srgbClr val="0B0B0B"/>
                </a:solidFill>
                <a:latin typeface="Helvetica Neue"/>
              </a:rPr>
              <a:t>The 76% fall in blockspace price drove the decline, and demand barely responded to cheaper prices.</a:t>
            </a:r>
          </a:p>
        </p:txBody>
      </p:sp>
      <p:sp>
        <p:nvSpPr>
          <p:cNvPr id="9" name="Rectangle 8"/>
          <p:cNvSpPr/>
          <p:nvPr/>
        </p:nvSpPr>
        <p:spPr>
          <a:xfrm>
            <a:off x="6126479"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59" y="1554480"/>
            <a:ext cx="5029200" cy="274320"/>
          </a:xfrm>
          <a:prstGeom prst="rect">
            <a:avLst/>
          </a:prstGeom>
          <a:noFill/>
        </p:spPr>
        <p:txBody>
          <a:bodyPr wrap="square" anchor="t" lIns="0" rIns="0">
            <a:spAutoFit/>
          </a:bodyPr>
          <a:lstStyle/>
          <a:p>
            <a:pPr algn="l"/>
            <a:r>
              <a:rPr sz="1300" b="1">
                <a:solidFill>
                  <a:srgbClr val="52514E"/>
                </a:solidFill>
                <a:latin typeface="Helvetica Neue"/>
              </a:rPr>
              <a:t>Evidence</a:t>
            </a:r>
          </a:p>
        </p:txBody>
      </p:sp>
      <p:sp>
        <p:nvSpPr>
          <p:cNvPr id="11" name="TextBox 10"/>
          <p:cNvSpPr txBox="1"/>
          <p:nvPr/>
        </p:nvSpPr>
        <p:spPr>
          <a:xfrm>
            <a:off x="6309359" y="1847088"/>
            <a:ext cx="5074920" cy="914400"/>
          </a:xfrm>
          <a:prstGeom prst="rect">
            <a:avLst/>
          </a:prstGeom>
          <a:noFill/>
        </p:spPr>
        <p:txBody>
          <a:bodyPr wrap="square" anchor="t" lIns="0" rIns="0">
            <a:spAutoFit/>
          </a:bodyPr>
          <a:lstStyle/>
          <a:p>
            <a:pPr algn="l"/>
            <a:r>
              <a:rPr sz="1200" b="0">
                <a:solidFill>
                  <a:srgbClr val="0B0B0B"/>
                </a:solidFill>
                <a:latin typeface="Helvetica Neue"/>
              </a:rPr>
              <a:t>Price effect -$9.5k/day. Observed elasticity: 0.38% more transactions and 0.08% more gas per 1% price drop. Median price 1.28 mwei/gas.</a:t>
            </a:r>
          </a:p>
        </p:txBody>
      </p:sp>
      <p:sp>
        <p:nvSpPr>
          <p:cNvPr id="12" name="Rectangle 11"/>
          <p:cNvSpPr/>
          <p:nvPr/>
        </p:nvSpPr>
        <p:spPr>
          <a:xfrm>
            <a:off x="548640"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017520"/>
            <a:ext cx="5029200" cy="274320"/>
          </a:xfrm>
          <a:prstGeom prst="rect">
            <a:avLst/>
          </a:prstGeom>
          <a:noFill/>
        </p:spPr>
        <p:txBody>
          <a:bodyPr wrap="square" anchor="t" lIns="0" rIns="0">
            <a:spAutoFit/>
          </a:bodyPr>
          <a:lstStyle/>
          <a:p>
            <a:pPr algn="l"/>
            <a:r>
              <a:rPr sz="1300" b="1">
                <a:solidFill>
                  <a:srgbClr val="52514E"/>
                </a:solidFill>
                <a:latin typeface="Helvetica Neue"/>
              </a:rPr>
              <a:t>Business implication</a:t>
            </a:r>
          </a:p>
        </p:txBody>
      </p:sp>
      <p:sp>
        <p:nvSpPr>
          <p:cNvPr id="14" name="TextBox 13"/>
          <p:cNvSpPr txBox="1"/>
          <p:nvPr/>
        </p:nvSpPr>
        <p:spPr>
          <a:xfrm>
            <a:off x="731520" y="3310128"/>
            <a:ext cx="5074920" cy="914400"/>
          </a:xfrm>
          <a:prstGeom prst="rect">
            <a:avLst/>
          </a:prstGeom>
          <a:noFill/>
        </p:spPr>
        <p:txBody>
          <a:bodyPr wrap="square" anchor="t" lIns="0" rIns="0">
            <a:spAutoFit/>
          </a:bodyPr>
          <a:lstStyle/>
          <a:p>
            <a:pPr algn="l"/>
            <a:r>
              <a:rPr sz="1200" b="0">
                <a:solidFill>
                  <a:srgbClr val="0B0B0B"/>
                </a:solidFill>
                <a:latin typeface="Helvetica Neue"/>
              </a:rPr>
              <a:t>A floor recovers price on base-load blockspace, mostly paid by bots, at negligible cost to users ($0.0014 per typical transaction).</a:t>
            </a:r>
          </a:p>
        </p:txBody>
      </p:sp>
      <p:sp>
        <p:nvSpPr>
          <p:cNvPr id="15" name="Rectangle 14"/>
          <p:cNvSpPr/>
          <p:nvPr/>
        </p:nvSpPr>
        <p:spPr>
          <a:xfrm>
            <a:off x="6126479"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59" y="3017520"/>
            <a:ext cx="5029200" cy="274320"/>
          </a:xfrm>
          <a:prstGeom prst="rect">
            <a:avLst/>
          </a:prstGeom>
          <a:noFill/>
        </p:spPr>
        <p:txBody>
          <a:bodyPr wrap="square" anchor="t" lIns="0" rIns="0">
            <a:spAutoFit/>
          </a:bodyPr>
          <a:lstStyle/>
          <a:p>
            <a:pPr algn="l"/>
            <a:r>
              <a:rPr sz="1300" b="1">
                <a:solidFill>
                  <a:srgbClr val="FF0420"/>
                </a:solidFill>
                <a:latin typeface="Helvetica Neue"/>
              </a:rPr>
              <a:t>Recommended action</a:t>
            </a:r>
          </a:p>
        </p:txBody>
      </p:sp>
      <p:sp>
        <p:nvSpPr>
          <p:cNvPr id="17" name="TextBox 16"/>
          <p:cNvSpPr txBox="1"/>
          <p:nvPr/>
        </p:nvSpPr>
        <p:spPr>
          <a:xfrm>
            <a:off x="6309359" y="3310128"/>
            <a:ext cx="5074920" cy="914400"/>
          </a:xfrm>
          <a:prstGeom prst="rect">
            <a:avLst/>
          </a:prstGeom>
          <a:noFill/>
        </p:spPr>
        <p:txBody>
          <a:bodyPr wrap="square" anchor="t" lIns="0" rIns="0">
            <a:spAutoFit/>
          </a:bodyPr>
          <a:lstStyle/>
          <a:p>
            <a:pPr algn="l"/>
            <a:r>
              <a:rPr sz="1200" b="0">
                <a:solidFill>
                  <a:srgbClr val="0B0B0B"/>
                </a:solidFill>
                <a:latin typeface="Helvetica Neue"/>
              </a:rPr>
              <a:t>Check the current minBaseFee setting, then raise the floor 1.5 -&gt; 2.0 -&gt; 2.5 mwei/gas. Each step goes ahead only if guardrails hold.</a:t>
            </a:r>
          </a:p>
        </p:txBody>
      </p:sp>
      <p:sp>
        <p:nvSpPr>
          <p:cNvPr id="18" name="TextBox 17"/>
          <p:cNvSpPr txBox="1"/>
          <p:nvPr/>
        </p:nvSpPr>
        <p:spPr>
          <a:xfrm>
            <a:off x="548640" y="4480560"/>
            <a:ext cx="1645920" cy="411480"/>
          </a:xfrm>
          <a:prstGeom prst="rect">
            <a:avLst/>
          </a:prstGeom>
          <a:noFill/>
        </p:spPr>
        <p:txBody>
          <a:bodyPr wrap="square" anchor="t" lIns="0" rIns="0">
            <a:spAutoFit/>
          </a:bodyPr>
          <a:lstStyle/>
          <a:p>
            <a:pPr algn="l"/>
            <a:r>
              <a:rPr sz="1200" b="1">
                <a:solidFill>
                  <a:srgbClr val="52514E"/>
                </a:solidFill>
                <a:latin typeface="Helvetica Neue"/>
              </a:rPr>
              <a:t>Owner</a:t>
            </a:r>
          </a:p>
        </p:txBody>
      </p:sp>
      <p:sp>
        <p:nvSpPr>
          <p:cNvPr id="19" name="TextBox 18"/>
          <p:cNvSpPr txBox="1"/>
          <p:nvPr/>
        </p:nvSpPr>
        <p:spPr>
          <a:xfrm>
            <a:off x="2194560" y="4480560"/>
            <a:ext cx="9418320" cy="411480"/>
          </a:xfrm>
          <a:prstGeom prst="rect">
            <a:avLst/>
          </a:prstGeom>
          <a:noFill/>
        </p:spPr>
        <p:txBody>
          <a:bodyPr wrap="square" anchor="t" lIns="0" rIns="0">
            <a:spAutoFit/>
          </a:bodyPr>
          <a:lstStyle/>
          <a:p>
            <a:pPr algn="l"/>
            <a:r>
              <a:rPr sz="1100" b="0">
                <a:solidFill>
                  <a:srgbClr val="0B0B0B"/>
                </a:solidFill>
                <a:latin typeface="Helvetica Neue"/>
              </a:rPr>
              <a:t>Product-Protocol (accountable), with Data monitoring and Finance signing off each stage</a:t>
            </a:r>
          </a:p>
        </p:txBody>
      </p:sp>
      <p:sp>
        <p:nvSpPr>
          <p:cNvPr id="20" name="TextBox 19"/>
          <p:cNvSpPr txBox="1"/>
          <p:nvPr/>
        </p:nvSpPr>
        <p:spPr>
          <a:xfrm>
            <a:off x="548640" y="4937760"/>
            <a:ext cx="1645920" cy="411480"/>
          </a:xfrm>
          <a:prstGeom prst="rect">
            <a:avLst/>
          </a:prstGeom>
          <a:noFill/>
        </p:spPr>
        <p:txBody>
          <a:bodyPr wrap="square" anchor="t" lIns="0" rIns="0">
            <a:spAutoFit/>
          </a:bodyPr>
          <a:lstStyle/>
          <a:p>
            <a:pPr algn="l"/>
            <a:r>
              <a:rPr sz="1200" b="1">
                <a:solidFill>
                  <a:srgbClr val="52514E"/>
                </a:solidFill>
                <a:latin typeface="Helvetica Neue"/>
              </a:rPr>
              <a:t>Timeline</a:t>
            </a:r>
          </a:p>
        </p:txBody>
      </p:sp>
      <p:sp>
        <p:nvSpPr>
          <p:cNvPr id="21" name="TextBox 20"/>
          <p:cNvSpPr txBox="1"/>
          <p:nvPr/>
        </p:nvSpPr>
        <p:spPr>
          <a:xfrm>
            <a:off x="2194560" y="4937760"/>
            <a:ext cx="9418320" cy="411480"/>
          </a:xfrm>
          <a:prstGeom prst="rect">
            <a:avLst/>
          </a:prstGeom>
          <a:noFill/>
        </p:spPr>
        <p:txBody>
          <a:bodyPr wrap="square" anchor="t" lIns="0" rIns="0">
            <a:spAutoFit/>
          </a:bodyPr>
          <a:lstStyle/>
          <a:p>
            <a:pPr algn="l"/>
            <a:r>
              <a:rPr sz="1100" b="0">
                <a:solidFill>
                  <a:srgbClr val="0B0B0B"/>
                </a:solidFill>
                <a:latin typeface="Helvetica Neue"/>
              </a:rPr>
              <a:t>Month 1: verify the setting and the governance path. Month 2: 1.5 mwei. Month 4: 2.0 mwei. Month 6: 2.5 mwei, then hold and review.</a:t>
            </a:r>
          </a:p>
        </p:txBody>
      </p:sp>
      <p:sp>
        <p:nvSpPr>
          <p:cNvPr id="22" name="TextBox 21"/>
          <p:cNvSpPr txBox="1"/>
          <p:nvPr/>
        </p:nvSpPr>
        <p:spPr>
          <a:xfrm>
            <a:off x="548640" y="5394960"/>
            <a:ext cx="1645920" cy="411480"/>
          </a:xfrm>
          <a:prstGeom prst="rect">
            <a:avLst/>
          </a:prstGeom>
          <a:noFill/>
        </p:spPr>
        <p:txBody>
          <a:bodyPr wrap="square" anchor="t" lIns="0" rIns="0">
            <a:spAutoFit/>
          </a:bodyPr>
          <a:lstStyle/>
          <a:p>
            <a:pPr algn="l"/>
            <a:r>
              <a:rPr sz="1200" b="1">
                <a:solidFill>
                  <a:srgbClr val="52514E"/>
                </a:solidFill>
                <a:latin typeface="Helvetica Neue"/>
              </a:rPr>
              <a:t>Expected impact</a:t>
            </a:r>
          </a:p>
        </p:txBody>
      </p:sp>
      <p:sp>
        <p:nvSpPr>
          <p:cNvPr id="23" name="TextBox 22"/>
          <p:cNvSpPr txBox="1"/>
          <p:nvPr/>
        </p:nvSpPr>
        <p:spPr>
          <a:xfrm>
            <a:off x="2194560" y="5394960"/>
            <a:ext cx="9418320" cy="411480"/>
          </a:xfrm>
          <a:prstGeom prst="rect">
            <a:avLst/>
          </a:prstGeom>
          <a:noFill/>
        </p:spPr>
        <p:txBody>
          <a:bodyPr wrap="square" anchor="t" lIns="0" rIns="0">
            <a:spAutoFit/>
          </a:bodyPr>
          <a:lstStyle/>
          <a:p>
            <a:pPr algn="l"/>
            <a:r>
              <a:rPr sz="1100" b="0">
                <a:solidFill>
                  <a:srgbClr val="0B0B0B"/>
                </a:solidFill>
                <a:latin typeface="Helvetica Neue"/>
              </a:rPr>
              <a:t>+$215k a year at 2.5 mwei in the base case. The floor range 1.5-4.0 mwei gives a total of $0.98M-$1.44M.</a:t>
            </a:r>
          </a:p>
        </p:txBody>
      </p:sp>
      <p:sp>
        <p:nvSpPr>
          <p:cNvPr id="24" name="TextBox 23"/>
          <p:cNvSpPr txBox="1"/>
          <p:nvPr/>
        </p:nvSpPr>
        <p:spPr>
          <a:xfrm>
            <a:off x="548640" y="5852160"/>
            <a:ext cx="1645920" cy="411480"/>
          </a:xfrm>
          <a:prstGeom prst="rect">
            <a:avLst/>
          </a:prstGeom>
          <a:noFill/>
        </p:spPr>
        <p:txBody>
          <a:bodyPr wrap="square" anchor="t" lIns="0" rIns="0">
            <a:spAutoFit/>
          </a:bodyPr>
          <a:lstStyle/>
          <a:p>
            <a:pPr algn="l"/>
            <a:r>
              <a:rPr sz="1200" b="1">
                <a:solidFill>
                  <a:srgbClr val="52514E"/>
                </a:solidFill>
                <a:latin typeface="Helvetica Neue"/>
              </a:rPr>
              <a:t>Track</a:t>
            </a:r>
          </a:p>
        </p:txBody>
      </p:sp>
      <p:sp>
        <p:nvSpPr>
          <p:cNvPr id="25" name="TextBox 24"/>
          <p:cNvSpPr txBox="1"/>
          <p:nvPr/>
        </p:nvSpPr>
        <p:spPr>
          <a:xfrm>
            <a:off x="2194560" y="5852160"/>
            <a:ext cx="9418320" cy="411480"/>
          </a:xfrm>
          <a:prstGeom prst="rect">
            <a:avLst/>
          </a:prstGeom>
          <a:noFill/>
        </p:spPr>
        <p:txBody>
          <a:bodyPr wrap="square" anchor="t" lIns="0" rIns="0">
            <a:spAutoFit/>
          </a:bodyPr>
          <a:lstStyle/>
          <a:p>
            <a:pPr algn="l"/>
            <a:r>
              <a:rPr sz="1100" b="0">
                <a:solidFill>
                  <a:srgbClr val="0B0B0B"/>
                </a:solidFill>
                <a:latin typeface="Helvetica Neue"/>
              </a:rPr>
              <a:t>Net revenue per day versus the no-action line ($0.90M/yr pace) · Bot gas decline no worse than the modelled -31% at 2.5 mwei · User gas decline no worse than the modelled -6% · Typical user transaction cost around $0.0014 at 2.5 mwei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13</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RECOMMENDATION</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600" b="1">
                <a:solidFill>
                  <a:srgbClr val="0B0B0B"/>
                </a:solidFill>
                <a:latin typeface="Helvetica Neue"/>
              </a:rPr>
              <a:t>Fix L1 fee hygiene</a:t>
            </a:r>
          </a:p>
        </p:txBody>
      </p:sp>
      <p:sp>
        <p:nvSpPr>
          <p:cNvPr id="6" name="Rectangle 5"/>
          <p:cNvSpPr/>
          <p:nvPr/>
        </p:nvSpPr>
        <p:spPr>
          <a:xfrm>
            <a:off x="548640"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029200" cy="274320"/>
          </a:xfrm>
          <a:prstGeom prst="rect">
            <a:avLst/>
          </a:prstGeom>
          <a:noFill/>
        </p:spPr>
        <p:txBody>
          <a:bodyPr wrap="square" anchor="t" lIns="0" rIns="0">
            <a:spAutoFit/>
          </a:bodyPr>
          <a:lstStyle/>
          <a:p>
            <a:pPr algn="l"/>
            <a:r>
              <a:rPr sz="1300" b="1">
                <a:solidFill>
                  <a:srgbClr val="52514E"/>
                </a:solidFill>
                <a:latin typeface="Helvetica Neue"/>
              </a:rPr>
              <a:t>Finding</a:t>
            </a:r>
          </a:p>
        </p:txBody>
      </p:sp>
      <p:sp>
        <p:nvSpPr>
          <p:cNvPr id="8" name="TextBox 7"/>
          <p:cNvSpPr txBox="1"/>
          <p:nvPr/>
        </p:nvSpPr>
        <p:spPr>
          <a:xfrm>
            <a:off x="731520" y="1847088"/>
            <a:ext cx="5074920" cy="914400"/>
          </a:xfrm>
          <a:prstGeom prst="rect">
            <a:avLst/>
          </a:prstGeom>
          <a:noFill/>
        </p:spPr>
        <p:txBody>
          <a:bodyPr wrap="square" anchor="t" lIns="0" rIns="0">
            <a:spAutoFit/>
          </a:bodyPr>
          <a:lstStyle/>
          <a:p>
            <a:pPr algn="l"/>
            <a:r>
              <a:rPr sz="1200" b="0">
                <a:solidFill>
                  <a:srgbClr val="0B0B0B"/>
                </a:solidFill>
                <a:latin typeface="Helvetica Neue"/>
              </a:rPr>
              <a:t>Since Oct 2025, users have paid less L1 data fee than OP's actual Ethereum posting cost, because the fee scalars are stale.</a:t>
            </a:r>
          </a:p>
        </p:txBody>
      </p:sp>
      <p:sp>
        <p:nvSpPr>
          <p:cNvPr id="9" name="Rectangle 8"/>
          <p:cNvSpPr/>
          <p:nvPr/>
        </p:nvSpPr>
        <p:spPr>
          <a:xfrm>
            <a:off x="6126479"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59" y="1554480"/>
            <a:ext cx="5029200" cy="274320"/>
          </a:xfrm>
          <a:prstGeom prst="rect">
            <a:avLst/>
          </a:prstGeom>
          <a:noFill/>
        </p:spPr>
        <p:txBody>
          <a:bodyPr wrap="square" anchor="t" lIns="0" rIns="0">
            <a:spAutoFit/>
          </a:bodyPr>
          <a:lstStyle/>
          <a:p>
            <a:pPr algn="l"/>
            <a:r>
              <a:rPr sz="1300" b="1">
                <a:solidFill>
                  <a:srgbClr val="52514E"/>
                </a:solidFill>
                <a:latin typeface="Helvetica Neue"/>
              </a:rPr>
              <a:t>Evidence</a:t>
            </a:r>
          </a:p>
        </p:txBody>
      </p:sp>
      <p:sp>
        <p:nvSpPr>
          <p:cNvPr id="11" name="TextBox 10"/>
          <p:cNvSpPr txBox="1"/>
          <p:nvPr/>
        </p:nvSpPr>
        <p:spPr>
          <a:xfrm>
            <a:off x="6309359" y="1847088"/>
            <a:ext cx="5074920" cy="914400"/>
          </a:xfrm>
          <a:prstGeom prst="rect">
            <a:avLst/>
          </a:prstGeom>
          <a:noFill/>
        </p:spPr>
        <p:txBody>
          <a:bodyPr wrap="square" anchor="t" lIns="0" rIns="0">
            <a:spAutoFit/>
          </a:bodyPr>
          <a:lstStyle/>
          <a:p>
            <a:pPr algn="l"/>
            <a:r>
              <a:rPr sz="1200" b="0">
                <a:solidFill>
                  <a:srgbClr val="0B0B0B"/>
                </a:solidFill>
                <a:latin typeface="Helvetica Neue"/>
              </a:rPr>
              <a:t>The data leg runs at about -$20k/yr. L1 cost is $40k against $20k of L1 data fee collected in the last 12 months.</a:t>
            </a:r>
          </a:p>
        </p:txBody>
      </p:sp>
      <p:sp>
        <p:nvSpPr>
          <p:cNvPr id="12" name="Rectangle 11"/>
          <p:cNvSpPr/>
          <p:nvPr/>
        </p:nvSpPr>
        <p:spPr>
          <a:xfrm>
            <a:off x="548640"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017520"/>
            <a:ext cx="5029200" cy="274320"/>
          </a:xfrm>
          <a:prstGeom prst="rect">
            <a:avLst/>
          </a:prstGeom>
          <a:noFill/>
        </p:spPr>
        <p:txBody>
          <a:bodyPr wrap="square" anchor="t" lIns="0" rIns="0">
            <a:spAutoFit/>
          </a:bodyPr>
          <a:lstStyle/>
          <a:p>
            <a:pPr algn="l"/>
            <a:r>
              <a:rPr sz="1300" b="1">
                <a:solidFill>
                  <a:srgbClr val="52514E"/>
                </a:solidFill>
                <a:latin typeface="Helvetica Neue"/>
              </a:rPr>
              <a:t>Business implication</a:t>
            </a:r>
          </a:p>
        </p:txBody>
      </p:sp>
      <p:sp>
        <p:nvSpPr>
          <p:cNvPr id="14" name="TextBox 13"/>
          <p:cNvSpPr txBox="1"/>
          <p:nvPr/>
        </p:nvSpPr>
        <p:spPr>
          <a:xfrm>
            <a:off x="731520" y="3310128"/>
            <a:ext cx="5074920" cy="914400"/>
          </a:xfrm>
          <a:prstGeom prst="rect">
            <a:avLst/>
          </a:prstGeom>
          <a:noFill/>
        </p:spPr>
        <p:txBody>
          <a:bodyPr wrap="square" anchor="t" lIns="0" rIns="0">
            <a:spAutoFit/>
          </a:bodyPr>
          <a:lstStyle/>
          <a:p>
            <a:pPr algn="l"/>
            <a:r>
              <a:rPr sz="1200" b="0">
                <a:solidFill>
                  <a:srgbClr val="0B0B0B"/>
                </a:solidFill>
                <a:latin typeface="Helvetica Neue"/>
              </a:rPr>
              <a:t>We subsidise Ethereum posting costs for free. It is small, but it is a pure leak that is easy to fix.</a:t>
            </a:r>
          </a:p>
        </p:txBody>
      </p:sp>
      <p:sp>
        <p:nvSpPr>
          <p:cNvPr id="15" name="Rectangle 14"/>
          <p:cNvSpPr/>
          <p:nvPr/>
        </p:nvSpPr>
        <p:spPr>
          <a:xfrm>
            <a:off x="6126479"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59" y="3017520"/>
            <a:ext cx="5029200" cy="274320"/>
          </a:xfrm>
          <a:prstGeom prst="rect">
            <a:avLst/>
          </a:prstGeom>
          <a:noFill/>
        </p:spPr>
        <p:txBody>
          <a:bodyPr wrap="square" anchor="t" lIns="0" rIns="0">
            <a:spAutoFit/>
          </a:bodyPr>
          <a:lstStyle/>
          <a:p>
            <a:pPr algn="l"/>
            <a:r>
              <a:rPr sz="1300" b="1">
                <a:solidFill>
                  <a:srgbClr val="FF0420"/>
                </a:solidFill>
                <a:latin typeface="Helvetica Neue"/>
              </a:rPr>
              <a:t>Recommended action</a:t>
            </a:r>
          </a:p>
        </p:txBody>
      </p:sp>
      <p:sp>
        <p:nvSpPr>
          <p:cNvPr id="17" name="TextBox 16"/>
          <p:cNvSpPr txBox="1"/>
          <p:nvPr/>
        </p:nvSpPr>
        <p:spPr>
          <a:xfrm>
            <a:off x="6309359" y="3310128"/>
            <a:ext cx="5074920" cy="914400"/>
          </a:xfrm>
          <a:prstGeom prst="rect">
            <a:avLst/>
          </a:prstGeom>
          <a:noFill/>
        </p:spPr>
        <p:txBody>
          <a:bodyPr wrap="square" anchor="t" lIns="0" rIns="0">
            <a:spAutoFit/>
          </a:bodyPr>
          <a:lstStyle/>
          <a:p>
            <a:pPr algn="l"/>
            <a:r>
              <a:rPr sz="1200" b="0">
                <a:solidFill>
                  <a:srgbClr val="0B0B0B"/>
                </a:solidFill>
                <a:latin typeface="Helvetica Neue"/>
              </a:rPr>
              <a:t>Re-tune the L1 data fee scalars so the data leg breaks even. Reconcile the L1 cost source (2.1% DefiLlama vs 5.6% growthepie) with an on-chain batcher rebuild.</a:t>
            </a:r>
          </a:p>
        </p:txBody>
      </p:sp>
      <p:sp>
        <p:nvSpPr>
          <p:cNvPr id="18" name="TextBox 17"/>
          <p:cNvSpPr txBox="1"/>
          <p:nvPr/>
        </p:nvSpPr>
        <p:spPr>
          <a:xfrm>
            <a:off x="548640" y="4480560"/>
            <a:ext cx="1645920" cy="411480"/>
          </a:xfrm>
          <a:prstGeom prst="rect">
            <a:avLst/>
          </a:prstGeom>
          <a:noFill/>
        </p:spPr>
        <p:txBody>
          <a:bodyPr wrap="square" anchor="t" lIns="0" rIns="0">
            <a:spAutoFit/>
          </a:bodyPr>
          <a:lstStyle/>
          <a:p>
            <a:pPr algn="l"/>
            <a:r>
              <a:rPr sz="1200" b="1">
                <a:solidFill>
                  <a:srgbClr val="52514E"/>
                </a:solidFill>
                <a:latin typeface="Helvetica Neue"/>
              </a:rPr>
              <a:t>Owner</a:t>
            </a:r>
          </a:p>
        </p:txBody>
      </p:sp>
      <p:sp>
        <p:nvSpPr>
          <p:cNvPr id="19" name="TextBox 18"/>
          <p:cNvSpPr txBox="1"/>
          <p:nvPr/>
        </p:nvSpPr>
        <p:spPr>
          <a:xfrm>
            <a:off x="2194560" y="4480560"/>
            <a:ext cx="9418320" cy="411480"/>
          </a:xfrm>
          <a:prstGeom prst="rect">
            <a:avLst/>
          </a:prstGeom>
          <a:noFill/>
        </p:spPr>
        <p:txBody>
          <a:bodyPr wrap="square" anchor="t" lIns="0" rIns="0">
            <a:spAutoFit/>
          </a:bodyPr>
          <a:lstStyle/>
          <a:p>
            <a:pPr algn="l"/>
            <a:r>
              <a:rPr sz="1100" b="0">
                <a:solidFill>
                  <a:srgbClr val="0B0B0B"/>
                </a:solidFill>
                <a:latin typeface="Helvetica Neue"/>
              </a:rPr>
              <a:t>Product-Protocol (scalars) and Data (cost reconciliation)</a:t>
            </a:r>
          </a:p>
        </p:txBody>
      </p:sp>
      <p:sp>
        <p:nvSpPr>
          <p:cNvPr id="20" name="TextBox 19"/>
          <p:cNvSpPr txBox="1"/>
          <p:nvPr/>
        </p:nvSpPr>
        <p:spPr>
          <a:xfrm>
            <a:off x="548640" y="4937760"/>
            <a:ext cx="1645920" cy="411480"/>
          </a:xfrm>
          <a:prstGeom prst="rect">
            <a:avLst/>
          </a:prstGeom>
          <a:noFill/>
        </p:spPr>
        <p:txBody>
          <a:bodyPr wrap="square" anchor="t" lIns="0" rIns="0">
            <a:spAutoFit/>
          </a:bodyPr>
          <a:lstStyle/>
          <a:p>
            <a:pPr algn="l"/>
            <a:r>
              <a:rPr sz="1200" b="1">
                <a:solidFill>
                  <a:srgbClr val="52514E"/>
                </a:solidFill>
                <a:latin typeface="Helvetica Neue"/>
              </a:rPr>
              <a:t>Timeline</a:t>
            </a:r>
          </a:p>
        </p:txBody>
      </p:sp>
      <p:sp>
        <p:nvSpPr>
          <p:cNvPr id="21" name="TextBox 20"/>
          <p:cNvSpPr txBox="1"/>
          <p:nvPr/>
        </p:nvSpPr>
        <p:spPr>
          <a:xfrm>
            <a:off x="2194560" y="4937760"/>
            <a:ext cx="9418320" cy="411480"/>
          </a:xfrm>
          <a:prstGeom prst="rect">
            <a:avLst/>
          </a:prstGeom>
          <a:noFill/>
        </p:spPr>
        <p:txBody>
          <a:bodyPr wrap="square" anchor="t" lIns="0" rIns="0">
            <a:spAutoFit/>
          </a:bodyPr>
          <a:lstStyle/>
          <a:p>
            <a:pPr algn="l"/>
            <a:r>
              <a:rPr sz="1100" b="0">
                <a:solidFill>
                  <a:srgbClr val="0B0B0B"/>
                </a:solidFill>
                <a:latin typeface="Helvetica Neue"/>
              </a:rPr>
              <a:t>Months 1-2</a:t>
            </a:r>
          </a:p>
        </p:txBody>
      </p:sp>
      <p:sp>
        <p:nvSpPr>
          <p:cNvPr id="22" name="TextBox 21"/>
          <p:cNvSpPr txBox="1"/>
          <p:nvPr/>
        </p:nvSpPr>
        <p:spPr>
          <a:xfrm>
            <a:off x="548640" y="5394960"/>
            <a:ext cx="1645920" cy="411480"/>
          </a:xfrm>
          <a:prstGeom prst="rect">
            <a:avLst/>
          </a:prstGeom>
          <a:noFill/>
        </p:spPr>
        <p:txBody>
          <a:bodyPr wrap="square" anchor="t" lIns="0" rIns="0">
            <a:spAutoFit/>
          </a:bodyPr>
          <a:lstStyle/>
          <a:p>
            <a:pPr algn="l"/>
            <a:r>
              <a:rPr sz="1200" b="1">
                <a:solidFill>
                  <a:srgbClr val="52514E"/>
                </a:solidFill>
                <a:latin typeface="Helvetica Neue"/>
              </a:rPr>
              <a:t>Expected impact</a:t>
            </a:r>
          </a:p>
        </p:txBody>
      </p:sp>
      <p:sp>
        <p:nvSpPr>
          <p:cNvPr id="23" name="TextBox 22"/>
          <p:cNvSpPr txBox="1"/>
          <p:nvPr/>
        </p:nvSpPr>
        <p:spPr>
          <a:xfrm>
            <a:off x="2194560" y="5394960"/>
            <a:ext cx="9418320" cy="411480"/>
          </a:xfrm>
          <a:prstGeom prst="rect">
            <a:avLst/>
          </a:prstGeom>
          <a:noFill/>
        </p:spPr>
        <p:txBody>
          <a:bodyPr wrap="square" anchor="t" lIns="0" rIns="0">
            <a:spAutoFit/>
          </a:bodyPr>
          <a:lstStyle/>
          <a:p>
            <a:pPr algn="l"/>
            <a:r>
              <a:rPr sz="1100" b="0">
                <a:solidFill>
                  <a:srgbClr val="0B0B0B"/>
                </a:solidFill>
                <a:latin typeface="Helvetica Neue"/>
              </a:rPr>
              <a:t>+$20k a year in the base case.</a:t>
            </a:r>
          </a:p>
        </p:txBody>
      </p:sp>
      <p:sp>
        <p:nvSpPr>
          <p:cNvPr id="24" name="TextBox 23"/>
          <p:cNvSpPr txBox="1"/>
          <p:nvPr/>
        </p:nvSpPr>
        <p:spPr>
          <a:xfrm>
            <a:off x="548640" y="5852160"/>
            <a:ext cx="1645920" cy="411480"/>
          </a:xfrm>
          <a:prstGeom prst="rect">
            <a:avLst/>
          </a:prstGeom>
          <a:noFill/>
        </p:spPr>
        <p:txBody>
          <a:bodyPr wrap="square" anchor="t" lIns="0" rIns="0">
            <a:spAutoFit/>
          </a:bodyPr>
          <a:lstStyle/>
          <a:p>
            <a:pPr algn="l"/>
            <a:r>
              <a:rPr sz="1200" b="1">
                <a:solidFill>
                  <a:srgbClr val="52514E"/>
                </a:solidFill>
                <a:latin typeface="Helvetica Neue"/>
              </a:rPr>
              <a:t>Track</a:t>
            </a:r>
          </a:p>
        </p:txBody>
      </p:sp>
      <p:sp>
        <p:nvSpPr>
          <p:cNvPr id="25" name="TextBox 24"/>
          <p:cNvSpPr txBox="1"/>
          <p:nvPr/>
        </p:nvSpPr>
        <p:spPr>
          <a:xfrm>
            <a:off x="2194560" y="5852160"/>
            <a:ext cx="9418320" cy="411480"/>
          </a:xfrm>
          <a:prstGeom prst="rect">
            <a:avLst/>
          </a:prstGeom>
          <a:noFill/>
        </p:spPr>
        <p:txBody>
          <a:bodyPr wrap="square" anchor="t" lIns="0" rIns="0">
            <a:spAutoFit/>
          </a:bodyPr>
          <a:lstStyle/>
          <a:p>
            <a:pPr algn="l"/>
            <a:r>
              <a:rPr sz="1100" b="0">
                <a:solidFill>
                  <a:srgbClr val="0B0B0B"/>
                </a:solidFill>
                <a:latin typeface="Helvetica Neue"/>
              </a:rPr>
              <a:t>L1 data fee collected minus L1 cost &gt;= 0 each month · L1 cost ratio reconciled to one agreed source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14</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RECOMMENDATION</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600" b="1">
                <a:solidFill>
                  <a:srgbClr val="0B0B0B"/>
                </a:solidFill>
                <a:latin typeface="Helvetica Neue"/>
              </a:rPr>
              <a:t>Grow payments and stablecoin flow</a:t>
            </a:r>
          </a:p>
        </p:txBody>
      </p:sp>
      <p:sp>
        <p:nvSpPr>
          <p:cNvPr id="6" name="Rectangle 5"/>
          <p:cNvSpPr/>
          <p:nvPr/>
        </p:nvSpPr>
        <p:spPr>
          <a:xfrm>
            <a:off x="548640"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029200" cy="274320"/>
          </a:xfrm>
          <a:prstGeom prst="rect">
            <a:avLst/>
          </a:prstGeom>
          <a:noFill/>
        </p:spPr>
        <p:txBody>
          <a:bodyPr wrap="square" anchor="t" lIns="0" rIns="0">
            <a:spAutoFit/>
          </a:bodyPr>
          <a:lstStyle/>
          <a:p>
            <a:pPr algn="l"/>
            <a:r>
              <a:rPr sz="1300" b="1">
                <a:solidFill>
                  <a:srgbClr val="52514E"/>
                </a:solidFill>
                <a:latin typeface="Helvetica Neue"/>
              </a:rPr>
              <a:t>Finding</a:t>
            </a:r>
          </a:p>
        </p:txBody>
      </p:sp>
      <p:sp>
        <p:nvSpPr>
          <p:cNvPr id="8" name="TextBox 7"/>
          <p:cNvSpPr txBox="1"/>
          <p:nvPr/>
        </p:nvSpPr>
        <p:spPr>
          <a:xfrm>
            <a:off x="731520" y="1847088"/>
            <a:ext cx="5074920" cy="914400"/>
          </a:xfrm>
          <a:prstGeom prst="rect">
            <a:avLst/>
          </a:prstGeom>
          <a:noFill/>
        </p:spPr>
        <p:txBody>
          <a:bodyPr wrap="square" anchor="t" lIns="0" rIns="0">
            <a:spAutoFit/>
          </a:bodyPr>
          <a:lstStyle/>
          <a:p>
            <a:pPr algn="l"/>
            <a:r>
              <a:rPr sz="1200" b="0">
                <a:solidFill>
                  <a:srgbClr val="0B0B0B"/>
                </a:solidFill>
                <a:latin typeface="Helvetica Neue"/>
              </a:rPr>
              <a:t>Stablecoin payments are the one clear growth line, and payments apps create far more value than they pay OP.</a:t>
            </a:r>
          </a:p>
        </p:txBody>
      </p:sp>
      <p:sp>
        <p:nvSpPr>
          <p:cNvPr id="9" name="Rectangle 8"/>
          <p:cNvSpPr/>
          <p:nvPr/>
        </p:nvSpPr>
        <p:spPr>
          <a:xfrm>
            <a:off x="6126479"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59" y="1554480"/>
            <a:ext cx="5029200" cy="274320"/>
          </a:xfrm>
          <a:prstGeom prst="rect">
            <a:avLst/>
          </a:prstGeom>
          <a:noFill/>
        </p:spPr>
        <p:txBody>
          <a:bodyPr wrap="square" anchor="t" lIns="0" rIns="0">
            <a:spAutoFit/>
          </a:bodyPr>
          <a:lstStyle/>
          <a:p>
            <a:pPr algn="l"/>
            <a:r>
              <a:rPr sz="1300" b="1">
                <a:solidFill>
                  <a:srgbClr val="52514E"/>
                </a:solidFill>
                <a:latin typeface="Helvetica Neue"/>
              </a:rPr>
              <a:t>Evidence</a:t>
            </a:r>
          </a:p>
        </p:txBody>
      </p:sp>
      <p:sp>
        <p:nvSpPr>
          <p:cNvPr id="11" name="TextBox 10"/>
          <p:cNvSpPr txBox="1"/>
          <p:nvPr/>
        </p:nvSpPr>
        <p:spPr>
          <a:xfrm>
            <a:off x="6309359" y="1847088"/>
            <a:ext cx="5074920" cy="914400"/>
          </a:xfrm>
          <a:prstGeom prst="rect">
            <a:avLst/>
          </a:prstGeom>
          <a:noFill/>
        </p:spPr>
        <p:txBody>
          <a:bodyPr wrap="square" anchor="t" lIns="0" rIns="0">
            <a:spAutoFit/>
          </a:bodyPr>
          <a:lstStyle/>
          <a:p>
            <a:pPr algn="l"/>
            <a:r>
              <a:rPr sz="1200" b="0">
                <a:solidFill>
                  <a:srgbClr val="0B0B0B"/>
                </a:solidFill>
                <a:latin typeface="Helvetica Neue"/>
              </a:rPr>
              <a:t>Adjusted stablecoin transfer volume +67% to $1.81B/qtr. ether.fi: $18.5M app fees against $10k of gas paid to OP.</a:t>
            </a:r>
          </a:p>
        </p:txBody>
      </p:sp>
      <p:sp>
        <p:nvSpPr>
          <p:cNvPr id="12" name="Rectangle 11"/>
          <p:cNvSpPr/>
          <p:nvPr/>
        </p:nvSpPr>
        <p:spPr>
          <a:xfrm>
            <a:off x="548640"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017520"/>
            <a:ext cx="5029200" cy="274320"/>
          </a:xfrm>
          <a:prstGeom prst="rect">
            <a:avLst/>
          </a:prstGeom>
          <a:noFill/>
        </p:spPr>
        <p:txBody>
          <a:bodyPr wrap="square" anchor="t" lIns="0" rIns="0">
            <a:spAutoFit/>
          </a:bodyPr>
          <a:lstStyle/>
          <a:p>
            <a:pPr algn="l"/>
            <a:r>
              <a:rPr sz="1300" b="1">
                <a:solidFill>
                  <a:srgbClr val="52514E"/>
                </a:solidFill>
                <a:latin typeface="Helvetica Neue"/>
              </a:rPr>
              <a:t>Business implication</a:t>
            </a:r>
          </a:p>
        </p:txBody>
      </p:sp>
      <p:sp>
        <p:nvSpPr>
          <p:cNvPr id="14" name="TextBox 13"/>
          <p:cNvSpPr txBox="1"/>
          <p:nvPr/>
        </p:nvSpPr>
        <p:spPr>
          <a:xfrm>
            <a:off x="731520" y="3310128"/>
            <a:ext cx="5074920" cy="914400"/>
          </a:xfrm>
          <a:prstGeom prst="rect">
            <a:avLst/>
          </a:prstGeom>
          <a:noFill/>
        </p:spPr>
        <p:txBody>
          <a:bodyPr wrap="square" anchor="t" lIns="0" rIns="0">
            <a:spAutoFit/>
          </a:bodyPr>
          <a:lstStyle/>
          <a:p>
            <a:pPr algn="l"/>
            <a:r>
              <a:rPr sz="1200" b="0">
                <a:solidFill>
                  <a:srgbClr val="0B0B0B"/>
                </a:solidFill>
                <a:latin typeface="Helvetica Neue"/>
              </a:rPr>
              <a:t>Each issuer adds little direct fee revenue but brings recurring, non-bot flow, plus deposits and stablecoin balances that strengthen the ecosystem.</a:t>
            </a:r>
          </a:p>
        </p:txBody>
      </p:sp>
      <p:sp>
        <p:nvSpPr>
          <p:cNvPr id="15" name="Rectangle 14"/>
          <p:cNvSpPr/>
          <p:nvPr/>
        </p:nvSpPr>
        <p:spPr>
          <a:xfrm>
            <a:off x="6126479"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59" y="3017520"/>
            <a:ext cx="5029200" cy="274320"/>
          </a:xfrm>
          <a:prstGeom prst="rect">
            <a:avLst/>
          </a:prstGeom>
          <a:noFill/>
        </p:spPr>
        <p:txBody>
          <a:bodyPr wrap="square" anchor="t" lIns="0" rIns="0">
            <a:spAutoFit/>
          </a:bodyPr>
          <a:lstStyle/>
          <a:p>
            <a:pPr algn="l"/>
            <a:r>
              <a:rPr sz="1300" b="1">
                <a:solidFill>
                  <a:srgbClr val="FF0420"/>
                </a:solidFill>
                <a:latin typeface="Helvetica Neue"/>
              </a:rPr>
              <a:t>Recommended action</a:t>
            </a:r>
          </a:p>
        </p:txBody>
      </p:sp>
      <p:sp>
        <p:nvSpPr>
          <p:cNvPr id="17" name="TextBox 16"/>
          <p:cNvSpPr txBox="1"/>
          <p:nvPr/>
        </p:nvSpPr>
        <p:spPr>
          <a:xfrm>
            <a:off x="6309359" y="3310128"/>
            <a:ext cx="5074920" cy="914400"/>
          </a:xfrm>
          <a:prstGeom prst="rect">
            <a:avLst/>
          </a:prstGeom>
          <a:noFill/>
        </p:spPr>
        <p:txBody>
          <a:bodyPr wrap="square" anchor="t" lIns="0" rIns="0">
            <a:spAutoFit/>
          </a:bodyPr>
          <a:lstStyle/>
          <a:p>
            <a:pPr algn="l"/>
            <a:r>
              <a:rPr sz="1200" b="0">
                <a:solidFill>
                  <a:srgbClr val="0B0B0B"/>
                </a:solidFill>
                <a:latin typeface="Helvetica Neue"/>
              </a:rPr>
              <a:t>Target 2 more card or payments issuers of ether.fi's scale, with co-marketing and launch support.</a:t>
            </a:r>
          </a:p>
        </p:txBody>
      </p:sp>
      <p:sp>
        <p:nvSpPr>
          <p:cNvPr id="18" name="TextBox 17"/>
          <p:cNvSpPr txBox="1"/>
          <p:nvPr/>
        </p:nvSpPr>
        <p:spPr>
          <a:xfrm>
            <a:off x="548640" y="4480560"/>
            <a:ext cx="1645920" cy="411480"/>
          </a:xfrm>
          <a:prstGeom prst="rect">
            <a:avLst/>
          </a:prstGeom>
          <a:noFill/>
        </p:spPr>
        <p:txBody>
          <a:bodyPr wrap="square" anchor="t" lIns="0" rIns="0">
            <a:spAutoFit/>
          </a:bodyPr>
          <a:lstStyle/>
          <a:p>
            <a:pPr algn="l"/>
            <a:r>
              <a:rPr sz="1200" b="1">
                <a:solidFill>
                  <a:srgbClr val="52514E"/>
                </a:solidFill>
                <a:latin typeface="Helvetica Neue"/>
              </a:rPr>
              <a:t>Owner</a:t>
            </a:r>
          </a:p>
        </p:txBody>
      </p:sp>
      <p:sp>
        <p:nvSpPr>
          <p:cNvPr id="19" name="TextBox 18"/>
          <p:cNvSpPr txBox="1"/>
          <p:nvPr/>
        </p:nvSpPr>
        <p:spPr>
          <a:xfrm>
            <a:off x="2194560" y="4480560"/>
            <a:ext cx="9418320" cy="411480"/>
          </a:xfrm>
          <a:prstGeom prst="rect">
            <a:avLst/>
          </a:prstGeom>
          <a:noFill/>
        </p:spPr>
        <p:txBody>
          <a:bodyPr wrap="square" anchor="t" lIns="0" rIns="0">
            <a:spAutoFit/>
          </a:bodyPr>
          <a:lstStyle/>
          <a:p>
            <a:pPr algn="l"/>
            <a:r>
              <a:rPr sz="1100" b="0">
                <a:solidFill>
                  <a:srgbClr val="0B0B0B"/>
                </a:solidFill>
                <a:latin typeface="Helvetica Neue"/>
              </a:rPr>
              <a:t>Business Development</a:t>
            </a:r>
          </a:p>
        </p:txBody>
      </p:sp>
      <p:sp>
        <p:nvSpPr>
          <p:cNvPr id="20" name="TextBox 19"/>
          <p:cNvSpPr txBox="1"/>
          <p:nvPr/>
        </p:nvSpPr>
        <p:spPr>
          <a:xfrm>
            <a:off x="548640" y="4937760"/>
            <a:ext cx="1645920" cy="411480"/>
          </a:xfrm>
          <a:prstGeom prst="rect">
            <a:avLst/>
          </a:prstGeom>
          <a:noFill/>
        </p:spPr>
        <p:txBody>
          <a:bodyPr wrap="square" anchor="t" lIns="0" rIns="0">
            <a:spAutoFit/>
          </a:bodyPr>
          <a:lstStyle/>
          <a:p>
            <a:pPr algn="l"/>
            <a:r>
              <a:rPr sz="1200" b="1">
                <a:solidFill>
                  <a:srgbClr val="52514E"/>
                </a:solidFill>
                <a:latin typeface="Helvetica Neue"/>
              </a:rPr>
              <a:t>Timeline</a:t>
            </a:r>
          </a:p>
        </p:txBody>
      </p:sp>
      <p:sp>
        <p:nvSpPr>
          <p:cNvPr id="21" name="TextBox 20"/>
          <p:cNvSpPr txBox="1"/>
          <p:nvPr/>
        </p:nvSpPr>
        <p:spPr>
          <a:xfrm>
            <a:off x="2194560" y="4937760"/>
            <a:ext cx="9418320" cy="411480"/>
          </a:xfrm>
          <a:prstGeom prst="rect">
            <a:avLst/>
          </a:prstGeom>
          <a:noFill/>
        </p:spPr>
        <p:txBody>
          <a:bodyPr wrap="square" anchor="t" lIns="0" rIns="0">
            <a:spAutoFit/>
          </a:bodyPr>
          <a:lstStyle/>
          <a:p>
            <a:pPr algn="l"/>
            <a:r>
              <a:rPr sz="1100" b="0">
                <a:solidFill>
                  <a:srgbClr val="0B0B0B"/>
                </a:solidFill>
                <a:latin typeface="Helvetica Neue"/>
              </a:rPr>
              <a:t>Pipeline by month 3, first signing by month 6, both live by month 12</a:t>
            </a:r>
          </a:p>
        </p:txBody>
      </p:sp>
      <p:sp>
        <p:nvSpPr>
          <p:cNvPr id="22" name="TextBox 21"/>
          <p:cNvSpPr txBox="1"/>
          <p:nvPr/>
        </p:nvSpPr>
        <p:spPr>
          <a:xfrm>
            <a:off x="548640" y="5394960"/>
            <a:ext cx="1645920" cy="411480"/>
          </a:xfrm>
          <a:prstGeom prst="rect">
            <a:avLst/>
          </a:prstGeom>
          <a:noFill/>
        </p:spPr>
        <p:txBody>
          <a:bodyPr wrap="square" anchor="t" lIns="0" rIns="0">
            <a:spAutoFit/>
          </a:bodyPr>
          <a:lstStyle/>
          <a:p>
            <a:pPr algn="l"/>
            <a:r>
              <a:rPr sz="1200" b="1">
                <a:solidFill>
                  <a:srgbClr val="52514E"/>
                </a:solidFill>
                <a:latin typeface="Helvetica Neue"/>
              </a:rPr>
              <a:t>Expected impact</a:t>
            </a:r>
          </a:p>
        </p:txBody>
      </p:sp>
      <p:sp>
        <p:nvSpPr>
          <p:cNvPr id="23" name="TextBox 22"/>
          <p:cNvSpPr txBox="1"/>
          <p:nvPr/>
        </p:nvSpPr>
        <p:spPr>
          <a:xfrm>
            <a:off x="2194560" y="5394960"/>
            <a:ext cx="9418320" cy="411480"/>
          </a:xfrm>
          <a:prstGeom prst="rect">
            <a:avLst/>
          </a:prstGeom>
          <a:noFill/>
        </p:spPr>
        <p:txBody>
          <a:bodyPr wrap="square" anchor="t" lIns="0" rIns="0">
            <a:spAutoFit/>
          </a:bodyPr>
          <a:lstStyle/>
          <a:p>
            <a:pPr algn="l"/>
            <a:r>
              <a:rPr sz="1100" b="0">
                <a:solidFill>
                  <a:srgbClr val="0B0B0B"/>
                </a:solidFill>
                <a:latin typeface="Helvetica Neue"/>
              </a:rPr>
              <a:t>+$51k a year of direct sequencer revenue in the base case (0-4 wins: $1.14M-$1.24M total). The main value is ecosystem fees, stablecoin volume and TVL.</a:t>
            </a:r>
          </a:p>
        </p:txBody>
      </p:sp>
      <p:sp>
        <p:nvSpPr>
          <p:cNvPr id="24" name="TextBox 23"/>
          <p:cNvSpPr txBox="1"/>
          <p:nvPr/>
        </p:nvSpPr>
        <p:spPr>
          <a:xfrm>
            <a:off x="548640" y="5852160"/>
            <a:ext cx="1645920" cy="411480"/>
          </a:xfrm>
          <a:prstGeom prst="rect">
            <a:avLst/>
          </a:prstGeom>
          <a:noFill/>
        </p:spPr>
        <p:txBody>
          <a:bodyPr wrap="square" anchor="t" lIns="0" rIns="0">
            <a:spAutoFit/>
          </a:bodyPr>
          <a:lstStyle/>
          <a:p>
            <a:pPr algn="l"/>
            <a:r>
              <a:rPr sz="1200" b="1">
                <a:solidFill>
                  <a:srgbClr val="52514E"/>
                </a:solidFill>
                <a:latin typeface="Helvetica Neue"/>
              </a:rPr>
              <a:t>Track</a:t>
            </a:r>
          </a:p>
        </p:txBody>
      </p:sp>
      <p:sp>
        <p:nvSpPr>
          <p:cNvPr id="25" name="TextBox 24"/>
          <p:cNvSpPr txBox="1"/>
          <p:nvPr/>
        </p:nvSpPr>
        <p:spPr>
          <a:xfrm>
            <a:off x="2194560" y="5852160"/>
            <a:ext cx="9418320" cy="411480"/>
          </a:xfrm>
          <a:prstGeom prst="rect">
            <a:avLst/>
          </a:prstGeom>
          <a:noFill/>
        </p:spPr>
        <p:txBody>
          <a:bodyPr wrap="square" anchor="t" lIns="0" rIns="0">
            <a:spAutoFit/>
          </a:bodyPr>
          <a:lstStyle/>
          <a:p>
            <a:pPr algn="l"/>
            <a:r>
              <a:rPr sz="1100" b="0">
                <a:solidFill>
                  <a:srgbClr val="0B0B0B"/>
                </a:solidFill>
                <a:latin typeface="Helvetica Neue"/>
              </a:rPr>
              <a:t>Issuers signed (target: 2) · Adjusted stablecoin transfer volume above $1.81B/qtr · Native stablecoin supply recovering from $208M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15</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RECOMMENDATION</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600" b="1">
                <a:solidFill>
                  <a:srgbClr val="0B0B0B"/>
                </a:solidFill>
                <a:latin typeface="Helvetica Neue"/>
              </a:rPr>
              <a:t>Sell to chains as customers (OP Enterprise)</a:t>
            </a:r>
          </a:p>
        </p:txBody>
      </p:sp>
      <p:sp>
        <p:nvSpPr>
          <p:cNvPr id="6" name="Rectangle 5"/>
          <p:cNvSpPr/>
          <p:nvPr/>
        </p:nvSpPr>
        <p:spPr>
          <a:xfrm>
            <a:off x="548640"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029200" cy="274320"/>
          </a:xfrm>
          <a:prstGeom prst="rect">
            <a:avLst/>
          </a:prstGeom>
          <a:noFill/>
        </p:spPr>
        <p:txBody>
          <a:bodyPr wrap="square" anchor="t" lIns="0" rIns="0">
            <a:spAutoFit/>
          </a:bodyPr>
          <a:lstStyle/>
          <a:p>
            <a:pPr algn="l"/>
            <a:r>
              <a:rPr sz="1300" b="1">
                <a:solidFill>
                  <a:srgbClr val="52514E"/>
                </a:solidFill>
                <a:latin typeface="Helvetica Neue"/>
              </a:rPr>
              <a:t>Finding</a:t>
            </a:r>
          </a:p>
        </p:txBody>
      </p:sp>
      <p:sp>
        <p:nvSpPr>
          <p:cNvPr id="8" name="TextBox 7"/>
          <p:cNvSpPr txBox="1"/>
          <p:nvPr/>
        </p:nvSpPr>
        <p:spPr>
          <a:xfrm>
            <a:off x="731520" y="1847088"/>
            <a:ext cx="5074920" cy="914400"/>
          </a:xfrm>
          <a:prstGeom prst="rect">
            <a:avLst/>
          </a:prstGeom>
          <a:noFill/>
        </p:spPr>
        <p:txBody>
          <a:bodyPr wrap="square" anchor="t" lIns="0" rIns="0">
            <a:spAutoFit/>
          </a:bodyPr>
          <a:lstStyle/>
          <a:p>
            <a:pPr algn="l"/>
            <a:r>
              <a:rPr sz="1200" b="0">
                <a:solidFill>
                  <a:srgbClr val="0B0B0B"/>
                </a:solidFill>
                <a:latin typeface="Helvetica Neue"/>
              </a:rPr>
              <a:t>Base's exit from the Superchain revenue share removed the largest source of Collective inflows.</a:t>
            </a:r>
          </a:p>
        </p:txBody>
      </p:sp>
      <p:sp>
        <p:nvSpPr>
          <p:cNvPr id="9" name="Rectangle 8"/>
          <p:cNvSpPr/>
          <p:nvPr/>
        </p:nvSpPr>
        <p:spPr>
          <a:xfrm>
            <a:off x="6126479" y="146304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59" y="1554480"/>
            <a:ext cx="5029200" cy="274320"/>
          </a:xfrm>
          <a:prstGeom prst="rect">
            <a:avLst/>
          </a:prstGeom>
          <a:noFill/>
        </p:spPr>
        <p:txBody>
          <a:bodyPr wrap="square" anchor="t" lIns="0" rIns="0">
            <a:spAutoFit/>
          </a:bodyPr>
          <a:lstStyle/>
          <a:p>
            <a:pPr algn="l"/>
            <a:r>
              <a:rPr sz="1300" b="1">
                <a:solidFill>
                  <a:srgbClr val="52514E"/>
                </a:solidFill>
                <a:latin typeface="Helvetica Neue"/>
              </a:rPr>
              <a:t>Evidence</a:t>
            </a:r>
          </a:p>
        </p:txBody>
      </p:sp>
      <p:sp>
        <p:nvSpPr>
          <p:cNvPr id="11" name="TextBox 10"/>
          <p:cNvSpPr txBox="1"/>
          <p:nvPr/>
        </p:nvSpPr>
        <p:spPr>
          <a:xfrm>
            <a:off x="6309359" y="1847088"/>
            <a:ext cx="5074920" cy="914400"/>
          </a:xfrm>
          <a:prstGeom prst="rect">
            <a:avLst/>
          </a:prstGeom>
          <a:noFill/>
        </p:spPr>
        <p:txBody>
          <a:bodyPr wrap="square" anchor="t" lIns="0" rIns="0">
            <a:spAutoFit/>
          </a:bodyPr>
          <a:lstStyle/>
          <a:p>
            <a:pPr algn="l"/>
            <a:r>
              <a:rPr sz="1200" b="0">
                <a:solidFill>
                  <a:srgbClr val="0B0B0B"/>
                </a:solidFill>
                <a:latin typeface="Helvetica Neue"/>
              </a:rPr>
              <a:t>Base announced its exit on 2026-02-19. It had been ~90% of Collective inflows in Jan 2026.</a:t>
            </a:r>
          </a:p>
        </p:txBody>
      </p:sp>
      <p:sp>
        <p:nvSpPr>
          <p:cNvPr id="12" name="Rectangle 11"/>
          <p:cNvSpPr/>
          <p:nvPr/>
        </p:nvSpPr>
        <p:spPr>
          <a:xfrm>
            <a:off x="548640"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017520"/>
            <a:ext cx="5029200" cy="274320"/>
          </a:xfrm>
          <a:prstGeom prst="rect">
            <a:avLst/>
          </a:prstGeom>
          <a:noFill/>
        </p:spPr>
        <p:txBody>
          <a:bodyPr wrap="square" anchor="t" lIns="0" rIns="0">
            <a:spAutoFit/>
          </a:bodyPr>
          <a:lstStyle/>
          <a:p>
            <a:pPr algn="l"/>
            <a:r>
              <a:rPr sz="1300" b="1">
                <a:solidFill>
                  <a:srgbClr val="52514E"/>
                </a:solidFill>
                <a:latin typeface="Helvetica Neue"/>
              </a:rPr>
              <a:t>Business implication</a:t>
            </a:r>
          </a:p>
        </p:txBody>
      </p:sp>
      <p:sp>
        <p:nvSpPr>
          <p:cNvPr id="14" name="TextBox 13"/>
          <p:cNvSpPr txBox="1"/>
          <p:nvPr/>
        </p:nvSpPr>
        <p:spPr>
          <a:xfrm>
            <a:off x="731520" y="3310128"/>
            <a:ext cx="5074920" cy="914400"/>
          </a:xfrm>
          <a:prstGeom prst="rect">
            <a:avLst/>
          </a:prstGeom>
          <a:noFill/>
        </p:spPr>
        <p:txBody>
          <a:bodyPr wrap="square" anchor="t" lIns="0" rIns="0">
            <a:spAutoFit/>
          </a:bodyPr>
          <a:lstStyle/>
          <a:p>
            <a:pPr algn="l"/>
            <a:r>
              <a:rPr sz="1200" b="0">
                <a:solidFill>
                  <a:srgbClr val="0B0B0B"/>
                </a:solidFill>
                <a:latin typeface="Helvetica Neue"/>
              </a:rPr>
              <a:t>OP needs paying chain customers to replace that inflow, on top of OP Mainnet's own margin.</a:t>
            </a:r>
          </a:p>
        </p:txBody>
      </p:sp>
      <p:sp>
        <p:nvSpPr>
          <p:cNvPr id="15" name="Rectangle 14"/>
          <p:cNvSpPr/>
          <p:nvPr/>
        </p:nvSpPr>
        <p:spPr>
          <a:xfrm>
            <a:off x="6126479" y="2926080"/>
            <a:ext cx="5440680" cy="1353312"/>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59" y="3017520"/>
            <a:ext cx="5029200" cy="274320"/>
          </a:xfrm>
          <a:prstGeom prst="rect">
            <a:avLst/>
          </a:prstGeom>
          <a:noFill/>
        </p:spPr>
        <p:txBody>
          <a:bodyPr wrap="square" anchor="t" lIns="0" rIns="0">
            <a:spAutoFit/>
          </a:bodyPr>
          <a:lstStyle/>
          <a:p>
            <a:pPr algn="l"/>
            <a:r>
              <a:rPr sz="1300" b="1">
                <a:solidFill>
                  <a:srgbClr val="FF0420"/>
                </a:solidFill>
                <a:latin typeface="Helvetica Neue"/>
              </a:rPr>
              <a:t>Recommended action</a:t>
            </a:r>
          </a:p>
        </p:txBody>
      </p:sp>
      <p:sp>
        <p:nvSpPr>
          <p:cNvPr id="17" name="TextBox 16"/>
          <p:cNvSpPr txBox="1"/>
          <p:nvPr/>
        </p:nvSpPr>
        <p:spPr>
          <a:xfrm>
            <a:off x="6309359" y="3310128"/>
            <a:ext cx="5074920" cy="914400"/>
          </a:xfrm>
          <a:prstGeom prst="rect">
            <a:avLst/>
          </a:prstGeom>
          <a:noFill/>
        </p:spPr>
        <p:txBody>
          <a:bodyPr wrap="square" anchor="t" lIns="0" rIns="0">
            <a:spAutoFit/>
          </a:bodyPr>
          <a:lstStyle/>
          <a:p>
            <a:pPr algn="l"/>
            <a:r>
              <a:rPr sz="1200" b="0">
                <a:solidFill>
                  <a:srgbClr val="0B0B0B"/>
                </a:solidFill>
                <a:latin typeface="Helvetica Neue"/>
              </a:rPr>
              <a:t>Package OP Enterprise (OP Stack plus services for chains) with clear pricing, and build a pipeline of target chains.</a:t>
            </a:r>
          </a:p>
        </p:txBody>
      </p:sp>
      <p:sp>
        <p:nvSpPr>
          <p:cNvPr id="18" name="TextBox 17"/>
          <p:cNvSpPr txBox="1"/>
          <p:nvPr/>
        </p:nvSpPr>
        <p:spPr>
          <a:xfrm>
            <a:off x="548640" y="4480560"/>
            <a:ext cx="1645920" cy="411480"/>
          </a:xfrm>
          <a:prstGeom prst="rect">
            <a:avLst/>
          </a:prstGeom>
          <a:noFill/>
        </p:spPr>
        <p:txBody>
          <a:bodyPr wrap="square" anchor="t" lIns="0" rIns="0">
            <a:spAutoFit/>
          </a:bodyPr>
          <a:lstStyle/>
          <a:p>
            <a:pPr algn="l"/>
            <a:r>
              <a:rPr sz="1200" b="1">
                <a:solidFill>
                  <a:srgbClr val="52514E"/>
                </a:solidFill>
                <a:latin typeface="Helvetica Neue"/>
              </a:rPr>
              <a:t>Owner</a:t>
            </a:r>
          </a:p>
        </p:txBody>
      </p:sp>
      <p:sp>
        <p:nvSpPr>
          <p:cNvPr id="19" name="TextBox 18"/>
          <p:cNvSpPr txBox="1"/>
          <p:nvPr/>
        </p:nvSpPr>
        <p:spPr>
          <a:xfrm>
            <a:off x="2194560" y="4480560"/>
            <a:ext cx="9418320" cy="411480"/>
          </a:xfrm>
          <a:prstGeom prst="rect">
            <a:avLst/>
          </a:prstGeom>
          <a:noFill/>
        </p:spPr>
        <p:txBody>
          <a:bodyPr wrap="square" anchor="t" lIns="0" rIns="0">
            <a:spAutoFit/>
          </a:bodyPr>
          <a:lstStyle/>
          <a:p>
            <a:pPr algn="l"/>
            <a:r>
              <a:rPr sz="1100" b="0">
                <a:solidFill>
                  <a:srgbClr val="0B0B0B"/>
                </a:solidFill>
                <a:latin typeface="Helvetica Neue"/>
              </a:rPr>
              <a:t>Business Development (pipeline) and Finance (pricing and contract terms)</a:t>
            </a:r>
          </a:p>
        </p:txBody>
      </p:sp>
      <p:sp>
        <p:nvSpPr>
          <p:cNvPr id="20" name="TextBox 19"/>
          <p:cNvSpPr txBox="1"/>
          <p:nvPr/>
        </p:nvSpPr>
        <p:spPr>
          <a:xfrm>
            <a:off x="548640" y="4937760"/>
            <a:ext cx="1645920" cy="411480"/>
          </a:xfrm>
          <a:prstGeom prst="rect">
            <a:avLst/>
          </a:prstGeom>
          <a:noFill/>
        </p:spPr>
        <p:txBody>
          <a:bodyPr wrap="square" anchor="t" lIns="0" rIns="0">
            <a:spAutoFit/>
          </a:bodyPr>
          <a:lstStyle/>
          <a:p>
            <a:pPr algn="l"/>
            <a:r>
              <a:rPr sz="1200" b="1">
                <a:solidFill>
                  <a:srgbClr val="52514E"/>
                </a:solidFill>
                <a:latin typeface="Helvetica Neue"/>
              </a:rPr>
              <a:t>Timeline</a:t>
            </a:r>
          </a:p>
        </p:txBody>
      </p:sp>
      <p:sp>
        <p:nvSpPr>
          <p:cNvPr id="21" name="TextBox 20"/>
          <p:cNvSpPr txBox="1"/>
          <p:nvPr/>
        </p:nvSpPr>
        <p:spPr>
          <a:xfrm>
            <a:off x="2194560" y="4937760"/>
            <a:ext cx="9418320" cy="411480"/>
          </a:xfrm>
          <a:prstGeom prst="rect">
            <a:avLst/>
          </a:prstGeom>
          <a:noFill/>
        </p:spPr>
        <p:txBody>
          <a:bodyPr wrap="square" anchor="t" lIns="0" rIns="0">
            <a:spAutoFit/>
          </a:bodyPr>
          <a:lstStyle/>
          <a:p>
            <a:pPr algn="l"/>
            <a:r>
              <a:rPr sz="1100" b="0">
                <a:solidFill>
                  <a:srgbClr val="0B0B0B"/>
                </a:solidFill>
                <a:latin typeface="Helvetica Neue"/>
              </a:rPr>
              <a:t>Offer and pricing by month 3, pipeline review by month 6, first contracts by month 12</a:t>
            </a:r>
          </a:p>
        </p:txBody>
      </p:sp>
      <p:sp>
        <p:nvSpPr>
          <p:cNvPr id="22" name="TextBox 21"/>
          <p:cNvSpPr txBox="1"/>
          <p:nvPr/>
        </p:nvSpPr>
        <p:spPr>
          <a:xfrm>
            <a:off x="548640" y="5394960"/>
            <a:ext cx="1645920" cy="411480"/>
          </a:xfrm>
          <a:prstGeom prst="rect">
            <a:avLst/>
          </a:prstGeom>
          <a:noFill/>
        </p:spPr>
        <p:txBody>
          <a:bodyPr wrap="square" anchor="t" lIns="0" rIns="0">
            <a:spAutoFit/>
          </a:bodyPr>
          <a:lstStyle/>
          <a:p>
            <a:pPr algn="l"/>
            <a:r>
              <a:rPr sz="1200" b="1">
                <a:solidFill>
                  <a:srgbClr val="52514E"/>
                </a:solidFill>
                <a:latin typeface="Helvetica Neue"/>
              </a:rPr>
              <a:t>Expected impact</a:t>
            </a:r>
          </a:p>
        </p:txBody>
      </p:sp>
      <p:sp>
        <p:nvSpPr>
          <p:cNvPr id="23" name="TextBox 22"/>
          <p:cNvSpPr txBox="1"/>
          <p:nvPr/>
        </p:nvSpPr>
        <p:spPr>
          <a:xfrm>
            <a:off x="2194560" y="5394960"/>
            <a:ext cx="9418320" cy="411480"/>
          </a:xfrm>
          <a:prstGeom prst="rect">
            <a:avLst/>
          </a:prstGeom>
          <a:noFill/>
        </p:spPr>
        <p:txBody>
          <a:bodyPr wrap="square" anchor="t" lIns="0" rIns="0">
            <a:spAutoFit/>
          </a:bodyPr>
          <a:lstStyle/>
          <a:p>
            <a:pPr algn="l"/>
            <a:r>
              <a:rPr sz="1100" b="0">
                <a:solidFill>
                  <a:srgbClr val="0B0B0B"/>
                </a:solidFill>
                <a:latin typeface="Helvetica Neue"/>
              </a:rPr>
              <a:t>Not modelled. This is upside outside the $1.19M base case and should be sized once pricing is set.</a:t>
            </a:r>
          </a:p>
        </p:txBody>
      </p:sp>
      <p:sp>
        <p:nvSpPr>
          <p:cNvPr id="24" name="TextBox 23"/>
          <p:cNvSpPr txBox="1"/>
          <p:nvPr/>
        </p:nvSpPr>
        <p:spPr>
          <a:xfrm>
            <a:off x="548640" y="5852160"/>
            <a:ext cx="1645920" cy="411480"/>
          </a:xfrm>
          <a:prstGeom prst="rect">
            <a:avLst/>
          </a:prstGeom>
          <a:noFill/>
        </p:spPr>
        <p:txBody>
          <a:bodyPr wrap="square" anchor="t" lIns="0" rIns="0">
            <a:spAutoFit/>
          </a:bodyPr>
          <a:lstStyle/>
          <a:p>
            <a:pPr algn="l"/>
            <a:r>
              <a:rPr sz="1200" b="1">
                <a:solidFill>
                  <a:srgbClr val="52514E"/>
                </a:solidFill>
                <a:latin typeface="Helvetica Neue"/>
              </a:rPr>
              <a:t>Track</a:t>
            </a:r>
          </a:p>
        </p:txBody>
      </p:sp>
      <p:sp>
        <p:nvSpPr>
          <p:cNvPr id="25" name="TextBox 24"/>
          <p:cNvSpPr txBox="1"/>
          <p:nvPr/>
        </p:nvSpPr>
        <p:spPr>
          <a:xfrm>
            <a:off x="2194560" y="5852160"/>
            <a:ext cx="9418320" cy="411480"/>
          </a:xfrm>
          <a:prstGeom prst="rect">
            <a:avLst/>
          </a:prstGeom>
          <a:noFill/>
        </p:spPr>
        <p:txBody>
          <a:bodyPr wrap="square" anchor="t" lIns="0" rIns="0">
            <a:spAutoFit/>
          </a:bodyPr>
          <a:lstStyle/>
          <a:p>
            <a:pPr algn="l"/>
            <a:r>
              <a:rPr sz="1100" b="0">
                <a:solidFill>
                  <a:srgbClr val="0B0B0B"/>
                </a:solidFill>
                <a:latin typeface="Helvetica Neue"/>
              </a:rPr>
              <a:t>Chains in qualified pipeline · Signed chain contracts · Contracted annual revenue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16</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BUSINESS CASE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Doing nothing yields $0.90M; three levers lift next year to $1.19M.</a:t>
            </a:r>
          </a:p>
        </p:txBody>
      </p:sp>
      <p:pic>
        <p:nvPicPr>
          <p:cNvPr id="6" name="Picture 5" descr="09_scenarios.png"/>
          <p:cNvPicPr>
            <a:picLocks noChangeAspect="1"/>
          </p:cNvPicPr>
          <p:nvPr/>
        </p:nvPicPr>
        <p:blipFill>
          <a:blip r:embed="rId2"/>
          <a:stretch>
            <a:fillRect/>
          </a:stretch>
        </p:blipFill>
        <p:spPr>
          <a:xfrm>
            <a:off x="548640" y="1600200"/>
            <a:ext cx="7680960" cy="3712802"/>
          </a:xfrm>
          <a:prstGeom prst="rect">
            <a:avLst/>
          </a:prstGeom>
        </p:spPr>
      </p:pic>
      <p:sp>
        <p:nvSpPr>
          <p:cNvPr id="7" name="Rectangle 6"/>
          <p:cNvSpPr/>
          <p:nvPr/>
        </p:nvSpPr>
        <p:spPr>
          <a:xfrm>
            <a:off x="8458200" y="1600200"/>
            <a:ext cx="3200400"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783080"/>
            <a:ext cx="2834640" cy="4297680"/>
          </a:xfrm>
          <a:prstGeom prst="rect">
            <a:avLst/>
          </a:prstGeom>
          <a:noFill/>
        </p:spPr>
        <p:txBody>
          <a:bodyPr wrap="square" lIns="0" rIns="0">
            <a:spAutoFit/>
          </a:bodyPr>
          <a:lstStyle/>
          <a:p>
            <a:pPr>
              <a:spcAft>
                <a:spcPts val="800"/>
              </a:spcAft>
            </a:pPr>
            <a:r>
              <a:rPr sz="1400">
                <a:solidFill>
                  <a:srgbClr val="0B0B0B"/>
                </a:solidFill>
                <a:latin typeface="Helvetica Neue"/>
              </a:rPr>
              <a:t>▪  No action: $0.90M net (-26% vs last 12 months), with ETH at $2,388, no crash like Oct 10, flat gas.</a:t>
            </a:r>
          </a:p>
          <a:p>
            <a:pPr>
              <a:spcAft>
                <a:spcPts val="800"/>
              </a:spcAft>
            </a:pPr>
            <a:r>
              <a:rPr sz="1400">
                <a:solidFill>
                  <a:srgbClr val="0B0B0B"/>
                </a:solidFill>
                <a:latin typeface="Helvetica Neue"/>
              </a:rPr>
              <a:t>▪  Lever A, a 2.5 mwei/gas fee floor: +$215k. Lever B, payments BD: +$51k. Lever C, L1 fee fix: +$20k.</a:t>
            </a:r>
          </a:p>
          <a:p>
            <a:pPr>
              <a:spcAft>
                <a:spcPts val="800"/>
              </a:spcAft>
            </a:pPr>
            <a:r>
              <a:rPr sz="1400">
                <a:solidFill>
                  <a:srgbClr val="0B0B0B"/>
                </a:solidFill>
                <a:latin typeface="Helvetica Neue"/>
              </a:rPr>
              <a:t>▪  Base case with levers: $1.19M, +32% versus no action and about flat versus the last 12 months.</a:t>
            </a:r>
          </a:p>
          <a:p>
            <a:pPr>
              <a:spcAft>
                <a:spcPts val="800"/>
              </a:spcAft>
            </a:pPr>
            <a:r>
              <a:rPr sz="1400">
                <a:solidFill>
                  <a:srgbClr val="0B0B0B"/>
                </a:solidFill>
                <a:latin typeface="Helvetica Neue"/>
              </a:rPr>
              <a:t>▪  Range: Bear case $0.40M, Bull case $3.09M (Bull assumes a 4.0 mwei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17</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BUSINESS CASE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ETH price drives the range most; bot reaction is the biggest controllable unknown.</a:t>
            </a:r>
          </a:p>
        </p:txBody>
      </p:sp>
      <p:pic>
        <p:nvPicPr>
          <p:cNvPr id="6" name="Picture 5" descr="10_tornado.png"/>
          <p:cNvPicPr>
            <a:picLocks noChangeAspect="1"/>
          </p:cNvPicPr>
          <p:nvPr/>
        </p:nvPicPr>
        <p:blipFill>
          <a:blip r:embed="rId2"/>
          <a:stretch>
            <a:fillRect/>
          </a:stretch>
        </p:blipFill>
        <p:spPr>
          <a:xfrm>
            <a:off x="548640" y="1508760"/>
            <a:ext cx="11064240" cy="3474754"/>
          </a:xfrm>
          <a:prstGeom prst="rect">
            <a:avLst/>
          </a:prstGeom>
        </p:spPr>
      </p:pic>
      <p:sp>
        <p:nvSpPr>
          <p:cNvPr id="7" name="TextBox 6"/>
          <p:cNvSpPr txBox="1"/>
          <p:nvPr/>
        </p:nvSpPr>
        <p:spPr>
          <a:xfrm>
            <a:off x="548640" y="5212080"/>
            <a:ext cx="11064240" cy="1188720"/>
          </a:xfrm>
          <a:prstGeom prst="rect">
            <a:avLst/>
          </a:prstGeom>
          <a:noFill/>
        </p:spPr>
        <p:txBody>
          <a:bodyPr wrap="square" lIns="0" rIns="0">
            <a:spAutoFit/>
          </a:bodyPr>
          <a:lstStyle/>
          <a:p>
            <a:pPr>
              <a:spcAft>
                <a:spcPts val="300"/>
              </a:spcAft>
            </a:pPr>
            <a:r>
              <a:rPr sz="1300">
                <a:solidFill>
                  <a:srgbClr val="0B0B0B"/>
                </a:solidFill>
                <a:latin typeface="Helvetica Neue"/>
              </a:rPr>
              <a:t>▪  ETH price at -40% or +40% gives $0.72M to $1.66M around the $1.19M base case.</a:t>
            </a:r>
          </a:p>
          <a:p>
            <a:pPr>
              <a:spcAft>
                <a:spcPts val="300"/>
              </a:spcAft>
            </a:pPr>
            <a:r>
              <a:rPr sz="1300">
                <a:solidFill>
                  <a:srgbClr val="0B0B0B"/>
                </a:solidFill>
                <a:latin typeface="Helvetica Neue"/>
              </a:rPr>
              <a:t>▪  A 1.5 to 4.0 mwei floor gives $0.98M to $1.44M. Bot elasticity of -1.2 to -0.3 gives $0.98M to $1.33M.</a:t>
            </a:r>
          </a:p>
          <a:p>
            <a:pPr>
              <a:spcAft>
                <a:spcPts val="300"/>
              </a:spcAft>
            </a:pPr>
            <a:r>
              <a:rPr sz="1300">
                <a:solidFill>
                  <a:srgbClr val="0B0B0B"/>
                </a:solidFill>
                <a:latin typeface="Helvetica Neue"/>
              </a:rPr>
              <a:t>▪  Organic gas at -20% or +20% gives $1.02M to $1.36M. A congestion premium of 0.25x to 1.0x gives $1.02M to $1.32M.</a:t>
            </a:r>
          </a:p>
          <a:p>
            <a:pPr>
              <a:spcAft>
                <a:spcPts val="300"/>
              </a:spcAft>
            </a:pPr>
            <a:r>
              <a:rPr sz="1300">
                <a:solidFill>
                  <a:srgbClr val="0B0B0B"/>
                </a:solidFill>
                <a:latin typeface="Helvetica Neue"/>
              </a:rPr>
              <a:t>▪  Payments wins of 0 to 4 give $1.14M to $1.24M. The L1 cost source gives $1.16M to $1.19M.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18</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BUSINESS CASE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A higher fee floor earns more but risks pushing flow to Base.</a:t>
            </a:r>
          </a:p>
        </p:txBody>
      </p:sp>
      <p:pic>
        <p:nvPicPr>
          <p:cNvPr id="6" name="Picture 5" descr="11_floor_sweep.png"/>
          <p:cNvPicPr>
            <a:picLocks noChangeAspect="1"/>
          </p:cNvPicPr>
          <p:nvPr/>
        </p:nvPicPr>
        <p:blipFill>
          <a:blip r:embed="rId2"/>
          <a:stretch>
            <a:fillRect/>
          </a:stretch>
        </p:blipFill>
        <p:spPr>
          <a:xfrm>
            <a:off x="548640" y="1508760"/>
            <a:ext cx="10099875" cy="3566160"/>
          </a:xfrm>
          <a:prstGeom prst="rect">
            <a:avLst/>
          </a:prstGeom>
        </p:spPr>
      </p:pic>
      <p:sp>
        <p:nvSpPr>
          <p:cNvPr id="7" name="TextBox 6"/>
          <p:cNvSpPr txBox="1"/>
          <p:nvPr/>
        </p:nvSpPr>
        <p:spPr>
          <a:xfrm>
            <a:off x="548640" y="5212080"/>
            <a:ext cx="11064240" cy="1188720"/>
          </a:xfrm>
          <a:prstGeom prst="rect">
            <a:avLst/>
          </a:prstGeom>
          <a:noFill/>
        </p:spPr>
        <p:txBody>
          <a:bodyPr wrap="square" lIns="0" rIns="0">
            <a:spAutoFit/>
          </a:bodyPr>
          <a:lstStyle/>
          <a:p>
            <a:pPr>
              <a:spcAft>
                <a:spcPts val="300"/>
              </a:spcAft>
            </a:pPr>
            <a:r>
              <a:rPr sz="1300">
                <a:solidFill>
                  <a:srgbClr val="0B0B0B"/>
                </a:solidFill>
                <a:latin typeface="Helvetica Neue"/>
              </a:rPr>
              <a:t>▪  Fee floor alone: 1.5 mwei $0.93M, 2.0 $1.03M, 2.5 $1.12M, 3.0 $1.20M, 4.0 $1.34M, 5.0 $1.47M.</a:t>
            </a:r>
          </a:p>
          <a:p>
            <a:pPr>
              <a:spcAft>
                <a:spcPts val="300"/>
              </a:spcAft>
            </a:pPr>
            <a:r>
              <a:rPr sz="1300">
                <a:solidFill>
                  <a:srgbClr val="0B0B0B"/>
                </a:solidFill>
                <a:latin typeface="Helvetica Neue"/>
              </a:rPr>
              <a:t>▪  At 2.5 mwei a typical user transaction costs $0.0014. Modelled user gas falls 6% and bot gas falls 31%.</a:t>
            </a:r>
          </a:p>
          <a:p>
            <a:pPr>
              <a:spcAft>
                <a:spcPts val="300"/>
              </a:spcAft>
            </a:pPr>
            <a:r>
              <a:rPr sz="1300">
                <a:solidFill>
                  <a:srgbClr val="0B0B0B"/>
                </a:solidFill>
                <a:latin typeface="Helvetica Neue"/>
              </a:rPr>
              <a:t>▪  Base, our closest competitor, sets its minimum base fee at 0.5 mwei. If the gap gets too wide, flow may move.</a:t>
            </a:r>
          </a:p>
          <a:p>
            <a:pPr>
              <a:spcAft>
                <a:spcPts val="300"/>
              </a:spcAft>
            </a:pPr>
            <a:r>
              <a:rPr sz="1300">
                <a:solidFill>
                  <a:srgbClr val="0B0B0B"/>
                </a:solidFill>
                <a:latin typeface="Helvetica Neue"/>
              </a:rPr>
              <a:t>▪  We recommend 2.5 mwei, about 1.8x today's 90-day median of 1.36, reached in stages.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19</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BUSINESS CASE</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Every assumption is explicit, and the observed data anchors the key ones</a:t>
            </a:r>
          </a:p>
        </p:txBody>
      </p:sp>
      <p:graphicFrame>
        <p:nvGraphicFramePr>
          <p:cNvPr id="6" name="Table 5"/>
          <p:cNvGraphicFramePr>
            <a:graphicFrameLocks noGrp="1"/>
          </p:cNvGraphicFramePr>
          <p:nvPr/>
        </p:nvGraphicFramePr>
        <p:xfrm>
          <a:off x="548640" y="1554480"/>
          <a:ext cx="6949440" cy="4279392"/>
        </p:xfrm>
        <a:graphic>
          <a:graphicData uri="http://schemas.openxmlformats.org/drawingml/2006/table">
            <a:tbl>
              <a:tblPr firstRow="1" bandRow="1">
                <a:tableStyleId>{5C22544A-7EE6-4342-B048-85BDC9FD1C3A}</a:tableStyleId>
              </a:tblPr>
              <a:tblGrid>
                <a:gridCol w="3566160"/>
                <a:gridCol w="1097280"/>
                <a:gridCol w="1097280"/>
                <a:gridCol w="1188720"/>
              </a:tblGrid>
              <a:tr h="329184">
                <a:tc>
                  <a:txBody>
                    <a:bodyPr/>
                    <a:lstStyle/>
                    <a:p>
                      <a:r>
                        <a:rPr sz="1100" b="1">
                          <a:solidFill>
                            <a:srgbClr val="FFFFFF"/>
                          </a:solidFill>
                          <a:latin typeface="Helvetica Neue"/>
                        </a:rPr>
                        <a:t>Assumption</a:t>
                      </a:r>
                    </a:p>
                  </a:txBody>
                  <a:tcPr>
                    <a:solidFill>
                      <a:srgbClr val="0B0B0B"/>
                    </a:solidFill>
                  </a:tcPr>
                </a:tc>
                <a:tc>
                  <a:txBody>
                    <a:bodyPr/>
                    <a:lstStyle/>
                    <a:p>
                      <a:r>
                        <a:rPr sz="1100" b="1">
                          <a:solidFill>
                            <a:srgbClr val="FFFFFF"/>
                          </a:solidFill>
                          <a:latin typeface="Helvetica Neue"/>
                        </a:rPr>
                        <a:t>Bear</a:t>
                      </a:r>
                    </a:p>
                  </a:txBody>
                  <a:tcPr>
                    <a:solidFill>
                      <a:srgbClr val="0B0B0B"/>
                    </a:solidFill>
                  </a:tcPr>
                </a:tc>
                <a:tc>
                  <a:txBody>
                    <a:bodyPr/>
                    <a:lstStyle/>
                    <a:p>
                      <a:r>
                        <a:rPr sz="1100" b="1">
                          <a:solidFill>
                            <a:srgbClr val="FFFFFF"/>
                          </a:solidFill>
                          <a:latin typeface="Helvetica Neue"/>
                        </a:rPr>
                        <a:t>Base</a:t>
                      </a:r>
                    </a:p>
                  </a:txBody>
                  <a:tcPr>
                    <a:solidFill>
                      <a:srgbClr val="0B0B0B"/>
                    </a:solidFill>
                  </a:tcPr>
                </a:tc>
                <a:tc>
                  <a:txBody>
                    <a:bodyPr/>
                    <a:lstStyle/>
                    <a:p>
                      <a:r>
                        <a:rPr sz="1100" b="1">
                          <a:solidFill>
                            <a:srgbClr val="FFFFFF"/>
                          </a:solidFill>
                          <a:latin typeface="Helvetica Neue"/>
                        </a:rPr>
                        <a:t>Bull</a:t>
                      </a:r>
                    </a:p>
                  </a:txBody>
                  <a:tcPr>
                    <a:solidFill>
                      <a:srgbClr val="0B0B0B"/>
                    </a:solidFill>
                  </a:tcPr>
                </a:tc>
              </a:tr>
              <a:tr h="329184">
                <a:tc>
                  <a:txBody>
                    <a:bodyPr/>
                    <a:lstStyle/>
                    <a:p>
                      <a:r>
                        <a:rPr sz="1100">
                          <a:solidFill>
                            <a:srgbClr val="0B0B0B"/>
                          </a:solidFill>
                          <a:latin typeface="Helvetica Neue"/>
                        </a:rPr>
                        <a:t>ETH price (avg, USD)</a:t>
                      </a:r>
                    </a:p>
                  </a:txBody>
                  <a:tcPr>
                    <a:solidFill>
                      <a:srgbClr val="FFFFFF"/>
                    </a:solidFill>
                  </a:tcPr>
                </a:tc>
                <a:tc>
                  <a:txBody>
                    <a:bodyPr/>
                    <a:lstStyle/>
                    <a:p>
                      <a:r>
                        <a:rPr sz="1100">
                          <a:solidFill>
                            <a:srgbClr val="0B0B0B"/>
                          </a:solidFill>
                          <a:latin typeface="Helvetica Neue"/>
                        </a:rPr>
                        <a:t>$1,433</a:t>
                      </a:r>
                    </a:p>
                  </a:txBody>
                  <a:tcPr>
                    <a:solidFill>
                      <a:srgbClr val="FFFFFF"/>
                    </a:solidFill>
                  </a:tcPr>
                </a:tc>
                <a:tc>
                  <a:txBody>
                    <a:bodyPr/>
                    <a:lstStyle/>
                    <a:p>
                      <a:r>
                        <a:rPr sz="1100">
                          <a:solidFill>
                            <a:srgbClr val="0B0B0B"/>
                          </a:solidFill>
                          <a:latin typeface="Helvetica Neue"/>
                        </a:rPr>
                        <a:t>$2,388</a:t>
                      </a:r>
                    </a:p>
                  </a:txBody>
                  <a:tcPr>
                    <a:solidFill>
                      <a:srgbClr val="FFFFFF"/>
                    </a:solidFill>
                  </a:tcPr>
                </a:tc>
                <a:tc>
                  <a:txBody>
                    <a:bodyPr/>
                    <a:lstStyle/>
                    <a:p>
                      <a:r>
                        <a:rPr sz="1100">
                          <a:solidFill>
                            <a:srgbClr val="0B0B0B"/>
                          </a:solidFill>
                          <a:latin typeface="Helvetica Neue"/>
                        </a:rPr>
                        <a:t>$3,343</a:t>
                      </a:r>
                    </a:p>
                  </a:txBody>
                  <a:tcPr>
                    <a:solidFill>
                      <a:srgbClr val="FFFFFF"/>
                    </a:solidFill>
                  </a:tcPr>
                </a:tc>
              </a:tr>
              <a:tr h="329184">
                <a:tc>
                  <a:txBody>
                    <a:bodyPr/>
                    <a:lstStyle/>
                    <a:p>
                      <a:r>
                        <a:rPr sz="1100">
                          <a:solidFill>
                            <a:srgbClr val="0B0B0B"/>
                          </a:solidFill>
                          <a:latin typeface="Helvetica Neue"/>
                        </a:rPr>
                        <a:t>Organic gas change</a:t>
                      </a:r>
                    </a:p>
                  </a:txBody>
                  <a:tcPr>
                    <a:solidFill>
                      <a:srgbClr val="F3F2EF"/>
                    </a:solidFill>
                  </a:tcPr>
                </a:tc>
                <a:tc>
                  <a:txBody>
                    <a:bodyPr/>
                    <a:lstStyle/>
                    <a:p>
                      <a:r>
                        <a:rPr sz="1100">
                          <a:solidFill>
                            <a:srgbClr val="0B0B0B"/>
                          </a:solidFill>
                          <a:latin typeface="Helvetica Neue"/>
                        </a:rPr>
                        <a:t>-20%</a:t>
                      </a:r>
                    </a:p>
                  </a:txBody>
                  <a:tcPr>
                    <a:solidFill>
                      <a:srgbClr val="F3F2EF"/>
                    </a:solidFill>
                  </a:tcPr>
                </a:tc>
                <a:tc>
                  <a:txBody>
                    <a:bodyPr/>
                    <a:lstStyle/>
                    <a:p>
                      <a:r>
                        <a:rPr sz="1100">
                          <a:solidFill>
                            <a:srgbClr val="0B0B0B"/>
                          </a:solidFill>
                          <a:latin typeface="Helvetica Neue"/>
                        </a:rPr>
                        <a:t>+0%</a:t>
                      </a:r>
                    </a:p>
                  </a:txBody>
                  <a:tcPr>
                    <a:solidFill>
                      <a:srgbClr val="F3F2EF"/>
                    </a:solidFill>
                  </a:tcPr>
                </a:tc>
                <a:tc>
                  <a:txBody>
                    <a:bodyPr/>
                    <a:lstStyle/>
                    <a:p>
                      <a:r>
                        <a:rPr sz="1100">
                          <a:solidFill>
                            <a:srgbClr val="0B0B0B"/>
                          </a:solidFill>
                          <a:latin typeface="Helvetica Neue"/>
                        </a:rPr>
                        <a:t>+20%</a:t>
                      </a:r>
                    </a:p>
                  </a:txBody>
                  <a:tcPr>
                    <a:solidFill>
                      <a:srgbClr val="F3F2EF"/>
                    </a:solidFill>
                  </a:tcPr>
                </a:tc>
              </a:tr>
              <a:tr h="329184">
                <a:tc>
                  <a:txBody>
                    <a:bodyPr/>
                    <a:lstStyle/>
                    <a:p>
                      <a:r>
                        <a:rPr sz="1100">
                          <a:solidFill>
                            <a:srgbClr val="0B0B0B"/>
                          </a:solidFill>
                          <a:latin typeface="Helvetica Neue"/>
                        </a:rPr>
                        <a:t>Congestion premium vs last 12m</a:t>
                      </a:r>
                    </a:p>
                  </a:txBody>
                  <a:tcPr>
                    <a:solidFill>
                      <a:srgbClr val="FFFFFF"/>
                    </a:solidFill>
                  </a:tcPr>
                </a:tc>
                <a:tc>
                  <a:txBody>
                    <a:bodyPr/>
                    <a:lstStyle/>
                    <a:p>
                      <a:r>
                        <a:rPr sz="1100">
                          <a:solidFill>
                            <a:srgbClr val="0B0B0B"/>
                          </a:solidFill>
                          <a:latin typeface="Helvetica Neue"/>
                        </a:rPr>
                        <a:t>0.25×</a:t>
                      </a:r>
                    </a:p>
                  </a:txBody>
                  <a:tcPr>
                    <a:solidFill>
                      <a:srgbClr val="FFFFFF"/>
                    </a:solidFill>
                  </a:tcPr>
                </a:tc>
                <a:tc>
                  <a:txBody>
                    <a:bodyPr/>
                    <a:lstStyle/>
                    <a:p>
                      <a:r>
                        <a:rPr sz="1100">
                          <a:solidFill>
                            <a:srgbClr val="0B0B0B"/>
                          </a:solidFill>
                          <a:latin typeface="Helvetica Neue"/>
                        </a:rPr>
                        <a:t>0.67×</a:t>
                      </a:r>
                    </a:p>
                  </a:txBody>
                  <a:tcPr>
                    <a:solidFill>
                      <a:srgbClr val="FFFFFF"/>
                    </a:solidFill>
                  </a:tcPr>
                </a:tc>
                <a:tc>
                  <a:txBody>
                    <a:bodyPr/>
                    <a:lstStyle/>
                    <a:p>
                      <a:r>
                        <a:rPr sz="1100">
                          <a:solidFill>
                            <a:srgbClr val="0B0B0B"/>
                          </a:solidFill>
                          <a:latin typeface="Helvetica Neue"/>
                        </a:rPr>
                        <a:t>1.00×</a:t>
                      </a:r>
                    </a:p>
                  </a:txBody>
                  <a:tcPr>
                    <a:solidFill>
                      <a:srgbClr val="FFFFFF"/>
                    </a:solidFill>
                  </a:tcPr>
                </a:tc>
              </a:tr>
              <a:tr h="329184">
                <a:tc>
                  <a:txBody>
                    <a:bodyPr/>
                    <a:lstStyle/>
                    <a:p>
                      <a:r>
                        <a:rPr sz="1100">
                          <a:solidFill>
                            <a:srgbClr val="0B0B0B"/>
                          </a:solidFill>
                          <a:latin typeface="Helvetica Neue"/>
                        </a:rPr>
                        <a:t>L1 cost, % of gross</a:t>
                      </a:r>
                    </a:p>
                  </a:txBody>
                  <a:tcPr>
                    <a:solidFill>
                      <a:srgbClr val="F3F2EF"/>
                    </a:solidFill>
                  </a:tcPr>
                </a:tc>
                <a:tc>
                  <a:txBody>
                    <a:bodyPr/>
                    <a:lstStyle/>
                    <a:p>
                      <a:r>
                        <a:rPr sz="1100">
                          <a:solidFill>
                            <a:srgbClr val="0B0B0B"/>
                          </a:solidFill>
                          <a:latin typeface="Helvetica Neue"/>
                        </a:rPr>
                        <a:t>5.6%</a:t>
                      </a:r>
                    </a:p>
                  </a:txBody>
                  <a:tcPr>
                    <a:solidFill>
                      <a:srgbClr val="F3F2EF"/>
                    </a:solidFill>
                  </a:tcPr>
                </a:tc>
                <a:tc>
                  <a:txBody>
                    <a:bodyPr/>
                    <a:lstStyle/>
                    <a:p>
                      <a:r>
                        <a:rPr sz="1100">
                          <a:solidFill>
                            <a:srgbClr val="0B0B0B"/>
                          </a:solidFill>
                          <a:latin typeface="Helvetica Neue"/>
                        </a:rPr>
                        <a:t>3.2%</a:t>
                      </a:r>
                    </a:p>
                  </a:txBody>
                  <a:tcPr>
                    <a:solidFill>
                      <a:srgbClr val="F3F2EF"/>
                    </a:solidFill>
                  </a:tcPr>
                </a:tc>
                <a:tc>
                  <a:txBody>
                    <a:bodyPr/>
                    <a:lstStyle/>
                    <a:p>
                      <a:r>
                        <a:rPr sz="1100">
                          <a:solidFill>
                            <a:srgbClr val="0B0B0B"/>
                          </a:solidFill>
                          <a:latin typeface="Helvetica Neue"/>
                        </a:rPr>
                        <a:t>3.2%</a:t>
                      </a:r>
                    </a:p>
                  </a:txBody>
                  <a:tcPr>
                    <a:solidFill>
                      <a:srgbClr val="F3F2EF"/>
                    </a:solidFill>
                  </a:tcPr>
                </a:tc>
              </a:tr>
              <a:tr h="329184">
                <a:tc>
                  <a:txBody>
                    <a:bodyPr/>
                    <a:lstStyle/>
                    <a:p>
                      <a:r>
                        <a:rPr sz="1100">
                          <a:solidFill>
                            <a:srgbClr val="0B0B0B"/>
                          </a:solidFill>
                          <a:latin typeface="Helvetica Neue"/>
                        </a:rPr>
                        <a:t>Lever A: minimum base fee (mwei/gas)</a:t>
                      </a:r>
                    </a:p>
                  </a:txBody>
                  <a:tcPr>
                    <a:solidFill>
                      <a:srgbClr val="FFFFFF"/>
                    </a:solidFill>
                  </a:tcPr>
                </a:tc>
                <a:tc>
                  <a:txBody>
                    <a:bodyPr/>
                    <a:lstStyle/>
                    <a:p>
                      <a:r>
                        <a:rPr sz="1100">
                          <a:solidFill>
                            <a:srgbClr val="0B0B0B"/>
                          </a:solidFill>
                          <a:latin typeface="Helvetica Neue"/>
                        </a:rPr>
                        <a:t>2.5</a:t>
                      </a:r>
                    </a:p>
                  </a:txBody>
                  <a:tcPr>
                    <a:solidFill>
                      <a:srgbClr val="FFFFFF"/>
                    </a:solidFill>
                  </a:tcPr>
                </a:tc>
                <a:tc>
                  <a:txBody>
                    <a:bodyPr/>
                    <a:lstStyle/>
                    <a:p>
                      <a:r>
                        <a:rPr sz="1100">
                          <a:solidFill>
                            <a:srgbClr val="0B0B0B"/>
                          </a:solidFill>
                          <a:latin typeface="Helvetica Neue"/>
                        </a:rPr>
                        <a:t>2.5</a:t>
                      </a:r>
                    </a:p>
                  </a:txBody>
                  <a:tcPr>
                    <a:solidFill>
                      <a:srgbClr val="FFFFFF"/>
                    </a:solidFill>
                  </a:tcPr>
                </a:tc>
                <a:tc>
                  <a:txBody>
                    <a:bodyPr/>
                    <a:lstStyle/>
                    <a:p>
                      <a:r>
                        <a:rPr sz="1100">
                          <a:solidFill>
                            <a:srgbClr val="0B0B0B"/>
                          </a:solidFill>
                          <a:latin typeface="Helvetica Neue"/>
                        </a:rPr>
                        <a:t>4.0</a:t>
                      </a:r>
                    </a:p>
                  </a:txBody>
                  <a:tcPr>
                    <a:solidFill>
                      <a:srgbClr val="FFFFFF"/>
                    </a:solidFill>
                  </a:tcPr>
                </a:tc>
              </a:tr>
              <a:tr h="329184">
                <a:tc>
                  <a:txBody>
                    <a:bodyPr/>
                    <a:lstStyle/>
                    <a:p>
                      <a:r>
                        <a:rPr sz="1100">
                          <a:solidFill>
                            <a:srgbClr val="0B0B0B"/>
                          </a:solidFill>
                          <a:latin typeface="Helvetica Neue"/>
                        </a:rPr>
                        <a:t>Lever A: bot price elasticity</a:t>
                      </a:r>
                    </a:p>
                  </a:txBody>
                  <a:tcPr>
                    <a:solidFill>
                      <a:srgbClr val="F3F2EF"/>
                    </a:solidFill>
                  </a:tcPr>
                </a:tc>
                <a:tc>
                  <a:txBody>
                    <a:bodyPr/>
                    <a:lstStyle/>
                    <a:p>
                      <a:r>
                        <a:rPr sz="1100">
                          <a:solidFill>
                            <a:srgbClr val="0B0B0B"/>
                          </a:solidFill>
                          <a:latin typeface="Helvetica Neue"/>
                        </a:rPr>
                        <a:t>-1.0</a:t>
                      </a:r>
                    </a:p>
                  </a:txBody>
                  <a:tcPr>
                    <a:solidFill>
                      <a:srgbClr val="F3F2EF"/>
                    </a:solidFill>
                  </a:tcPr>
                </a:tc>
                <a:tc>
                  <a:txBody>
                    <a:bodyPr/>
                    <a:lstStyle/>
                    <a:p>
                      <a:r>
                        <a:rPr sz="1100">
                          <a:solidFill>
                            <a:srgbClr val="0B0B0B"/>
                          </a:solidFill>
                          <a:latin typeface="Helvetica Neue"/>
                        </a:rPr>
                        <a:t>-0.6</a:t>
                      </a:r>
                    </a:p>
                  </a:txBody>
                  <a:tcPr>
                    <a:solidFill>
                      <a:srgbClr val="F3F2EF"/>
                    </a:solidFill>
                  </a:tcPr>
                </a:tc>
                <a:tc>
                  <a:txBody>
                    <a:bodyPr/>
                    <a:lstStyle/>
                    <a:p>
                      <a:r>
                        <a:rPr sz="1100">
                          <a:solidFill>
                            <a:srgbClr val="0B0B0B"/>
                          </a:solidFill>
                          <a:latin typeface="Helvetica Neue"/>
                        </a:rPr>
                        <a:t>-0.4</a:t>
                      </a:r>
                    </a:p>
                  </a:txBody>
                  <a:tcPr>
                    <a:solidFill>
                      <a:srgbClr val="F3F2EF"/>
                    </a:solidFill>
                  </a:tcPr>
                </a:tc>
              </a:tr>
              <a:tr h="329184">
                <a:tc>
                  <a:txBody>
                    <a:bodyPr/>
                    <a:lstStyle/>
                    <a:p>
                      <a:r>
                        <a:rPr sz="1100">
                          <a:solidFill>
                            <a:srgbClr val="0B0B0B"/>
                          </a:solidFill>
                          <a:latin typeface="Helvetica Neue"/>
                        </a:rPr>
                        <a:t>Lever A: user price elasticity</a:t>
                      </a:r>
                    </a:p>
                  </a:txBody>
                  <a:tcPr>
                    <a:solidFill>
                      <a:srgbClr val="FFFFFF"/>
                    </a:solidFill>
                  </a:tcPr>
                </a:tc>
                <a:tc>
                  <a:txBody>
                    <a:bodyPr/>
                    <a:lstStyle/>
                    <a:p>
                      <a:r>
                        <a:rPr sz="1100">
                          <a:solidFill>
                            <a:srgbClr val="0B0B0B"/>
                          </a:solidFill>
                          <a:latin typeface="Helvetica Neue"/>
                        </a:rPr>
                        <a:t>-0.2</a:t>
                      </a:r>
                    </a:p>
                  </a:txBody>
                  <a:tcPr>
                    <a:solidFill>
                      <a:srgbClr val="FFFFFF"/>
                    </a:solidFill>
                  </a:tcPr>
                </a:tc>
                <a:tc>
                  <a:txBody>
                    <a:bodyPr/>
                    <a:lstStyle/>
                    <a:p>
                      <a:r>
                        <a:rPr sz="1100">
                          <a:solidFill>
                            <a:srgbClr val="0B0B0B"/>
                          </a:solidFill>
                          <a:latin typeface="Helvetica Neue"/>
                        </a:rPr>
                        <a:t>-0.1</a:t>
                      </a:r>
                    </a:p>
                  </a:txBody>
                  <a:tcPr>
                    <a:solidFill>
                      <a:srgbClr val="FFFFFF"/>
                    </a:solidFill>
                  </a:tcPr>
                </a:tc>
                <a:tc>
                  <a:txBody>
                    <a:bodyPr/>
                    <a:lstStyle/>
                    <a:p>
                      <a:r>
                        <a:rPr sz="1100">
                          <a:solidFill>
                            <a:srgbClr val="0B0B0B"/>
                          </a:solidFill>
                          <a:latin typeface="Helvetica Neue"/>
                        </a:rPr>
                        <a:t>-0.05</a:t>
                      </a:r>
                    </a:p>
                  </a:txBody>
                  <a:tcPr>
                    <a:solidFill>
                      <a:srgbClr val="FFFFFF"/>
                    </a:solidFill>
                  </a:tcPr>
                </a:tc>
              </a:tr>
              <a:tr h="329184">
                <a:tc>
                  <a:txBody>
                    <a:bodyPr/>
                    <a:lstStyle/>
                    <a:p>
                      <a:r>
                        <a:rPr sz="1100">
                          <a:solidFill>
                            <a:srgbClr val="0B0B0B"/>
                          </a:solidFill>
                          <a:latin typeface="Helvetica Neue"/>
                        </a:rPr>
                        <a:t>Lever B: ether.fi-scale payment wins</a:t>
                      </a:r>
                    </a:p>
                  </a:txBody>
                  <a:tcPr>
                    <a:solidFill>
                      <a:srgbClr val="F3F2EF"/>
                    </a:solidFill>
                  </a:tcPr>
                </a:tc>
                <a:tc>
                  <a:txBody>
                    <a:bodyPr/>
                    <a:lstStyle/>
                    <a:p>
                      <a:r>
                        <a:rPr sz="1100">
                          <a:solidFill>
                            <a:srgbClr val="0B0B0B"/>
                          </a:solidFill>
                          <a:latin typeface="Helvetica Neue"/>
                        </a:rPr>
                        <a:t>0</a:t>
                      </a:r>
                    </a:p>
                  </a:txBody>
                  <a:tcPr>
                    <a:solidFill>
                      <a:srgbClr val="F3F2EF"/>
                    </a:solidFill>
                  </a:tcPr>
                </a:tc>
                <a:tc>
                  <a:txBody>
                    <a:bodyPr/>
                    <a:lstStyle/>
                    <a:p>
                      <a:r>
                        <a:rPr sz="1100">
                          <a:solidFill>
                            <a:srgbClr val="0B0B0B"/>
                          </a:solidFill>
                          <a:latin typeface="Helvetica Neue"/>
                        </a:rPr>
                        <a:t>2</a:t>
                      </a:r>
                    </a:p>
                  </a:txBody>
                  <a:tcPr>
                    <a:solidFill>
                      <a:srgbClr val="F3F2EF"/>
                    </a:solidFill>
                  </a:tcPr>
                </a:tc>
                <a:tc>
                  <a:txBody>
                    <a:bodyPr/>
                    <a:lstStyle/>
                    <a:p>
                      <a:r>
                        <a:rPr sz="1100">
                          <a:solidFill>
                            <a:srgbClr val="0B0B0B"/>
                          </a:solidFill>
                          <a:latin typeface="Helvetica Neue"/>
                        </a:rPr>
                        <a:t>4</a:t>
                      </a:r>
                    </a:p>
                  </a:txBody>
                  <a:tcPr>
                    <a:solidFill>
                      <a:srgbClr val="F3F2EF"/>
                    </a:solidFill>
                  </a:tcPr>
                </a:tc>
              </a:tr>
              <a:tr h="329184">
                <a:tc>
                  <a:txBody>
                    <a:bodyPr/>
                    <a:lstStyle/>
                    <a:p>
                      <a:r>
                        <a:rPr sz="1100">
                          <a:solidFill>
                            <a:srgbClr val="0B0B0B"/>
                          </a:solidFill>
                          <a:latin typeface="Helvetica Neue"/>
                        </a:rPr>
                        <a:t>Lever B: induced-activity multiple</a:t>
                      </a:r>
                    </a:p>
                  </a:txBody>
                  <a:tcPr>
                    <a:solidFill>
                      <a:srgbClr val="FFFFFF"/>
                    </a:solidFill>
                  </a:tcPr>
                </a:tc>
                <a:tc>
                  <a:txBody>
                    <a:bodyPr/>
                    <a:lstStyle/>
                    <a:p>
                      <a:r>
                        <a:rPr sz="1100">
                          <a:solidFill>
                            <a:srgbClr val="0B0B0B"/>
                          </a:solidFill>
                          <a:latin typeface="Helvetica Neue"/>
                        </a:rPr>
                        <a:t>1×</a:t>
                      </a:r>
                    </a:p>
                  </a:txBody>
                  <a:tcPr>
                    <a:solidFill>
                      <a:srgbClr val="FFFFFF"/>
                    </a:solidFill>
                  </a:tcPr>
                </a:tc>
                <a:tc>
                  <a:txBody>
                    <a:bodyPr/>
                    <a:lstStyle/>
                    <a:p>
                      <a:r>
                        <a:rPr sz="1100">
                          <a:solidFill>
                            <a:srgbClr val="0B0B0B"/>
                          </a:solidFill>
                          <a:latin typeface="Helvetica Neue"/>
                        </a:rPr>
                        <a:t>2×</a:t>
                      </a:r>
                    </a:p>
                  </a:txBody>
                  <a:tcPr>
                    <a:solidFill>
                      <a:srgbClr val="FFFFFF"/>
                    </a:solidFill>
                  </a:tcPr>
                </a:tc>
                <a:tc>
                  <a:txBody>
                    <a:bodyPr/>
                    <a:lstStyle/>
                    <a:p>
                      <a:r>
                        <a:rPr sz="1100">
                          <a:solidFill>
                            <a:srgbClr val="0B0B0B"/>
                          </a:solidFill>
                          <a:latin typeface="Helvetica Neue"/>
                        </a:rPr>
                        <a:t>3×</a:t>
                      </a:r>
                    </a:p>
                  </a:txBody>
                  <a:tcPr>
                    <a:solidFill>
                      <a:srgbClr val="FFFFFF"/>
                    </a:solidFill>
                  </a:tcPr>
                </a:tc>
              </a:tr>
              <a:tr h="329184">
                <a:tc>
                  <a:txBody>
                    <a:bodyPr/>
                    <a:lstStyle/>
                    <a:p>
                      <a:r>
                        <a:rPr sz="1100">
                          <a:solidFill>
                            <a:srgbClr val="0B0B0B"/>
                          </a:solidFill>
                          <a:latin typeface="Helvetica Neue"/>
                        </a:rPr>
                        <a:t>Lever C: re-tune L1 data-fee scalars</a:t>
                      </a:r>
                    </a:p>
                  </a:txBody>
                  <a:tcPr>
                    <a:solidFill>
                      <a:srgbClr val="F3F2EF"/>
                    </a:solidFill>
                  </a:tcPr>
                </a:tc>
                <a:tc>
                  <a:txBody>
                    <a:bodyPr/>
                    <a:lstStyle/>
                    <a:p>
                      <a:r>
                        <a:rPr sz="1100">
                          <a:solidFill>
                            <a:srgbClr val="0B0B0B"/>
                          </a:solidFill>
                          <a:latin typeface="Helvetica Neue"/>
                        </a:rPr>
                        <a:t>Yes</a:t>
                      </a:r>
                    </a:p>
                  </a:txBody>
                  <a:tcPr>
                    <a:solidFill>
                      <a:srgbClr val="F3F2EF"/>
                    </a:solidFill>
                  </a:tcPr>
                </a:tc>
                <a:tc>
                  <a:txBody>
                    <a:bodyPr/>
                    <a:lstStyle/>
                    <a:p>
                      <a:r>
                        <a:rPr sz="1100">
                          <a:solidFill>
                            <a:srgbClr val="0B0B0B"/>
                          </a:solidFill>
                          <a:latin typeface="Helvetica Neue"/>
                        </a:rPr>
                        <a:t>Yes</a:t>
                      </a:r>
                    </a:p>
                  </a:txBody>
                  <a:tcPr>
                    <a:solidFill>
                      <a:srgbClr val="F3F2EF"/>
                    </a:solidFill>
                  </a:tcPr>
                </a:tc>
                <a:tc>
                  <a:txBody>
                    <a:bodyPr/>
                    <a:lstStyle/>
                    <a:p>
                      <a:r>
                        <a:rPr sz="1100">
                          <a:solidFill>
                            <a:srgbClr val="0B0B0B"/>
                          </a:solidFill>
                          <a:latin typeface="Helvetica Neue"/>
                        </a:rPr>
                        <a:t>Yes</a:t>
                      </a:r>
                    </a:p>
                  </a:txBody>
                  <a:tcPr>
                    <a:solidFill>
                      <a:srgbClr val="F3F2EF"/>
                    </a:solidFill>
                  </a:tcPr>
                </a:tc>
              </a:tr>
              <a:tr h="329184">
                <a:tc>
                  <a:txBody>
                    <a:bodyPr/>
                    <a:lstStyle/>
                    <a:p>
                      <a:r>
                        <a:rPr sz="1100">
                          <a:solidFill>
                            <a:srgbClr val="0B0B0B"/>
                          </a:solidFill>
                          <a:latin typeface="Helvetica Neue"/>
                        </a:rPr>
                        <a:t>→ Net revenue, no action</a:t>
                      </a:r>
                    </a:p>
                  </a:txBody>
                  <a:tcPr>
                    <a:solidFill>
                      <a:srgbClr val="FFFFFF"/>
                    </a:solidFill>
                  </a:tcPr>
                </a:tc>
                <a:tc>
                  <a:txBody>
                    <a:bodyPr/>
                    <a:lstStyle/>
                    <a:p>
                      <a:r>
                        <a:rPr sz="1100">
                          <a:solidFill>
                            <a:srgbClr val="0B0B0B"/>
                          </a:solidFill>
                          <a:latin typeface="Helvetica Neue"/>
                        </a:rPr>
                        <a:t>$0.36M</a:t>
                      </a:r>
                    </a:p>
                  </a:txBody>
                  <a:tcPr>
                    <a:solidFill>
                      <a:srgbClr val="FFFFFF"/>
                    </a:solidFill>
                  </a:tcPr>
                </a:tc>
                <a:tc>
                  <a:txBody>
                    <a:bodyPr/>
                    <a:lstStyle/>
                    <a:p>
                      <a:r>
                        <a:rPr sz="1100">
                          <a:solidFill>
                            <a:srgbClr val="0B0B0B"/>
                          </a:solidFill>
                          <a:latin typeface="Helvetica Neue"/>
                        </a:rPr>
                        <a:t>$0.90M</a:t>
                      </a:r>
                    </a:p>
                  </a:txBody>
                  <a:tcPr>
                    <a:solidFill>
                      <a:srgbClr val="FFFFFF"/>
                    </a:solidFill>
                  </a:tcPr>
                </a:tc>
                <a:tc>
                  <a:txBody>
                    <a:bodyPr/>
                    <a:lstStyle/>
                    <a:p>
                      <a:r>
                        <a:rPr sz="1100">
                          <a:solidFill>
                            <a:srgbClr val="0B0B0B"/>
                          </a:solidFill>
                          <a:latin typeface="Helvetica Neue"/>
                        </a:rPr>
                        <a:t>$1.63M</a:t>
                      </a:r>
                    </a:p>
                  </a:txBody>
                  <a:tcPr>
                    <a:solidFill>
                      <a:srgbClr val="FFFFFF"/>
                    </a:solidFill>
                  </a:tcPr>
                </a:tc>
              </a:tr>
              <a:tr h="329184">
                <a:tc>
                  <a:txBody>
                    <a:bodyPr/>
                    <a:lstStyle/>
                    <a:p>
                      <a:r>
                        <a:rPr sz="1100">
                          <a:solidFill>
                            <a:srgbClr val="0B0B0B"/>
                          </a:solidFill>
                          <a:latin typeface="Helvetica Neue"/>
                        </a:rPr>
                        <a:t>→ Net revenue, with levers</a:t>
                      </a:r>
                    </a:p>
                  </a:txBody>
                  <a:tcPr>
                    <a:solidFill>
                      <a:srgbClr val="F3F2EF"/>
                    </a:solidFill>
                  </a:tcPr>
                </a:tc>
                <a:tc>
                  <a:txBody>
                    <a:bodyPr/>
                    <a:lstStyle/>
                    <a:p>
                      <a:r>
                        <a:rPr sz="1100">
                          <a:solidFill>
                            <a:srgbClr val="0B0B0B"/>
                          </a:solidFill>
                          <a:latin typeface="Helvetica Neue"/>
                        </a:rPr>
                        <a:t>$0.40M</a:t>
                      </a:r>
                    </a:p>
                  </a:txBody>
                  <a:tcPr>
                    <a:solidFill>
                      <a:srgbClr val="F3F2EF"/>
                    </a:solidFill>
                  </a:tcPr>
                </a:tc>
                <a:tc>
                  <a:txBody>
                    <a:bodyPr/>
                    <a:lstStyle/>
                    <a:p>
                      <a:r>
                        <a:rPr sz="1100">
                          <a:solidFill>
                            <a:srgbClr val="0B0B0B"/>
                          </a:solidFill>
                          <a:latin typeface="Helvetica Neue"/>
                        </a:rPr>
                        <a:t>$1.19M</a:t>
                      </a:r>
                    </a:p>
                  </a:txBody>
                  <a:tcPr>
                    <a:solidFill>
                      <a:srgbClr val="F3F2EF"/>
                    </a:solidFill>
                  </a:tcPr>
                </a:tc>
                <a:tc>
                  <a:txBody>
                    <a:bodyPr/>
                    <a:lstStyle/>
                    <a:p>
                      <a:r>
                        <a:rPr sz="1100">
                          <a:solidFill>
                            <a:srgbClr val="0B0B0B"/>
                          </a:solidFill>
                          <a:latin typeface="Helvetica Neue"/>
                        </a:rPr>
                        <a:t>$3.09M</a:t>
                      </a:r>
                    </a:p>
                  </a:txBody>
                  <a:tcPr>
                    <a:solidFill>
                      <a:srgbClr val="F3F2EF"/>
                    </a:solidFill>
                  </a:tcPr>
                </a:tc>
              </a:tr>
            </a:tbl>
          </a:graphicData>
        </a:graphic>
      </p:graphicFrame>
      <p:sp>
        <p:nvSpPr>
          <p:cNvPr id="7" name="Rectangle 6"/>
          <p:cNvSpPr/>
          <p:nvPr/>
        </p:nvSpPr>
        <p:spPr>
          <a:xfrm>
            <a:off x="7863840" y="1554480"/>
            <a:ext cx="3749039" cy="457200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1737360"/>
            <a:ext cx="3383280" cy="4206240"/>
          </a:xfrm>
          <a:prstGeom prst="rect">
            <a:avLst/>
          </a:prstGeom>
          <a:noFill/>
        </p:spPr>
        <p:txBody>
          <a:bodyPr wrap="square" lIns="0" rIns="0">
            <a:spAutoFit/>
          </a:bodyPr>
          <a:lstStyle/>
          <a:p>
            <a:pPr>
              <a:spcAft>
                <a:spcPts val="800"/>
              </a:spcAft>
            </a:pPr>
            <a:r>
              <a:rPr sz="1200">
                <a:solidFill>
                  <a:srgbClr val="0B0B0B"/>
                </a:solidFill>
                <a:latin typeface="Helvetica Neue"/>
              </a:rPr>
              <a:t>▪  Elasticities: when blockspace got 76% cheaper, txs rose only 0.38% and gas 0.08% per 1% price cut. A bot elasticity of −0.6 is conservative.</a:t>
            </a:r>
          </a:p>
          <a:p>
            <a:pPr>
              <a:spcAft>
                <a:spcPts val="800"/>
              </a:spcAft>
            </a:pPr>
            <a:r>
              <a:rPr sz="1200">
                <a:solidFill>
                  <a:srgbClr val="0B0B0B"/>
                </a:solidFill>
                <a:latin typeface="Helvetica Neue"/>
              </a:rPr>
              <a:t>▪  Congestion premium: last 12m excluding the Oct-10 crash day = 0.67× of the full year.</a:t>
            </a:r>
          </a:p>
          <a:p>
            <a:pPr>
              <a:spcAft>
                <a:spcPts val="800"/>
              </a:spcAft>
            </a:pPr>
            <a:r>
              <a:rPr sz="1200">
                <a:solidFill>
                  <a:srgbClr val="0B0B0B"/>
                </a:solidFill>
                <a:latin typeface="Helvetica Neue"/>
              </a:rPr>
              <a:t>▪  Base-load price: 90-day median 1.36 mwei per gas; ETH $2,388 (30-day average).</a:t>
            </a:r>
          </a:p>
          <a:p>
            <a:pPr>
              <a:spcAft>
                <a:spcPts val="800"/>
              </a:spcAft>
            </a:pPr>
            <a:r>
              <a:rPr sz="1200">
                <a:solidFill>
                  <a:srgbClr val="0B0B0B"/>
                </a:solidFill>
                <a:latin typeface="Helvetica Neue"/>
              </a:rPr>
              <a:t>▪  L1 cost: DefiLlama 3.2% of gross; growthepie 5.6% (Bear).</a:t>
            </a:r>
          </a:p>
          <a:p>
            <a:pPr>
              <a:spcAft>
                <a:spcPts val="800"/>
              </a:spcAft>
            </a:pPr>
            <a:r>
              <a:rPr sz="1200">
                <a:solidFill>
                  <a:srgbClr val="0B0B0B"/>
                </a:solidFill>
                <a:latin typeface="Helvetica Neue"/>
              </a:rPr>
              <a:t>▪  Lever B uses ether.fi's observed 90-day gas run-rate on OP Mainnet.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20</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MEASURING SUCCESS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How we'll know it's working: one north-star metric, four drivers, three guardrails</a:t>
            </a:r>
          </a:p>
        </p:txBody>
      </p:sp>
      <p:graphicFrame>
        <p:nvGraphicFramePr>
          <p:cNvPr id="6" name="Table 5"/>
          <p:cNvGraphicFramePr>
            <a:graphicFrameLocks noGrp="1"/>
          </p:cNvGraphicFramePr>
          <p:nvPr/>
        </p:nvGraphicFramePr>
        <p:xfrm>
          <a:off x="548640" y="1554480"/>
          <a:ext cx="11064240" cy="4572000"/>
        </p:xfrm>
        <a:graphic>
          <a:graphicData uri="http://schemas.openxmlformats.org/drawingml/2006/table">
            <a:tbl>
              <a:tblPr firstRow="1" bandRow="1">
                <a:tableStyleId>{5C22544A-7EE6-4342-B048-85BDC9FD1C3A}</a:tableStyleId>
              </a:tblPr>
              <a:tblGrid>
                <a:gridCol w="2377440"/>
                <a:gridCol w="4480560"/>
                <a:gridCol w="3017520"/>
                <a:gridCol w="1188720"/>
              </a:tblGrid>
              <a:tr h="457200">
                <a:tc>
                  <a:txBody>
                    <a:bodyPr/>
                    <a:lstStyle/>
                    <a:p>
                      <a:r>
                        <a:rPr sz="1000" b="1">
                          <a:solidFill>
                            <a:srgbClr val="FFFFFF"/>
                          </a:solidFill>
                          <a:latin typeface="Helvetica Neue"/>
                        </a:rPr>
                        <a:t>Metric</a:t>
                      </a:r>
                    </a:p>
                  </a:txBody>
                  <a:tcPr>
                    <a:solidFill>
                      <a:srgbClr val="0B0B0B"/>
                    </a:solidFill>
                  </a:tcPr>
                </a:tc>
                <a:tc>
                  <a:txBody>
                    <a:bodyPr/>
                    <a:lstStyle/>
                    <a:p>
                      <a:r>
                        <a:rPr sz="1000" b="1">
                          <a:solidFill>
                            <a:srgbClr val="FFFFFF"/>
                          </a:solidFill>
                          <a:latin typeface="Helvetica Neue"/>
                        </a:rPr>
                        <a:t>Definition</a:t>
                      </a:r>
                    </a:p>
                  </a:txBody>
                  <a:tcPr>
                    <a:solidFill>
                      <a:srgbClr val="0B0B0B"/>
                    </a:solidFill>
                  </a:tcPr>
                </a:tc>
                <a:tc>
                  <a:txBody>
                    <a:bodyPr/>
                    <a:lstStyle/>
                    <a:p>
                      <a:r>
                        <a:rPr sz="1000" b="1">
                          <a:solidFill>
                            <a:srgbClr val="FFFFFF"/>
                          </a:solidFill>
                          <a:latin typeface="Helvetica Neue"/>
                        </a:rPr>
                        <a:t>Target / guardrail</a:t>
                      </a:r>
                    </a:p>
                  </a:txBody>
                  <a:tcPr>
                    <a:solidFill>
                      <a:srgbClr val="0B0B0B"/>
                    </a:solidFill>
                  </a:tcPr>
                </a:tc>
                <a:tc>
                  <a:txBody>
                    <a:bodyPr/>
                    <a:lstStyle/>
                    <a:p>
                      <a:r>
                        <a:rPr sz="1000" b="1">
                          <a:solidFill>
                            <a:srgbClr val="FFFFFF"/>
                          </a:solidFill>
                          <a:latin typeface="Helvetica Neue"/>
                        </a:rPr>
                        <a:t>Owner</a:t>
                      </a:r>
                    </a:p>
                  </a:txBody>
                  <a:tcPr>
                    <a:solidFill>
                      <a:srgbClr val="0B0B0B"/>
                    </a:solidFill>
                  </a:tcPr>
                </a:tc>
              </a:tr>
              <a:tr h="457200">
                <a:tc>
                  <a:txBody>
                    <a:bodyPr/>
                    <a:lstStyle/>
                    <a:p>
                      <a:r>
                        <a:rPr sz="1000">
                          <a:solidFill>
                            <a:srgbClr val="0B0B0B"/>
                          </a:solidFill>
                          <a:latin typeface="Helvetica Neue"/>
                        </a:rPr>
                        <a:t>Net sequencer revenue</a:t>
                      </a:r>
                    </a:p>
                  </a:txBody>
                  <a:tcPr>
                    <a:solidFill>
                      <a:srgbClr val="FFFFFF"/>
                    </a:solidFill>
                  </a:tcPr>
                </a:tc>
                <a:tc>
                  <a:txBody>
                    <a:bodyPr/>
                    <a:lstStyle/>
                    <a:p>
                      <a:r>
                        <a:rPr sz="1000">
                          <a:solidFill>
                            <a:srgbClr val="0B0B0B"/>
                          </a:solidFill>
                          <a:latin typeface="Helvetica Neue"/>
                        </a:rPr>
                        <a:t>Gross user fees minus L1 data cost (Ethereum posting)</a:t>
                      </a:r>
                    </a:p>
                  </a:txBody>
                  <a:tcPr>
                    <a:solidFill>
                      <a:srgbClr val="FFFFFF"/>
                    </a:solidFill>
                  </a:tcPr>
                </a:tc>
                <a:tc>
                  <a:txBody>
                    <a:bodyPr/>
                    <a:lstStyle/>
                    <a:p>
                      <a:r>
                        <a:rPr sz="1000">
                          <a:solidFill>
                            <a:srgbClr val="0B0B0B"/>
                          </a:solidFill>
                          <a:latin typeface="Helvetica Neue"/>
                        </a:rPr>
                        <a:t>Target $1.19M for the next 12 months. Guardrail: stay above the $0.90M no-action line</a:t>
                      </a:r>
                    </a:p>
                  </a:txBody>
                  <a:tcPr>
                    <a:solidFill>
                      <a:srgbClr val="FFFFFF"/>
                    </a:solidFill>
                  </a:tcPr>
                </a:tc>
                <a:tc>
                  <a:txBody>
                    <a:bodyPr/>
                    <a:lstStyle/>
                    <a:p>
                      <a:r>
                        <a:rPr sz="1000">
                          <a:solidFill>
                            <a:srgbClr val="0B0B0B"/>
                          </a:solidFill>
                          <a:latin typeface="Helvetica Neue"/>
                        </a:rPr>
                        <a:t>Finance</a:t>
                      </a:r>
                    </a:p>
                  </a:txBody>
                  <a:tcPr>
                    <a:solidFill>
                      <a:srgbClr val="FFFFFF"/>
                    </a:solidFill>
                  </a:tcPr>
                </a:tc>
              </a:tr>
              <a:tr h="457200">
                <a:tc>
                  <a:txBody>
                    <a:bodyPr/>
                    <a:lstStyle/>
                    <a:p>
                      <a:r>
                        <a:rPr sz="1000">
                          <a:solidFill>
                            <a:srgbClr val="0B0B0B"/>
                          </a:solidFill>
                          <a:latin typeface="Helvetica Neue"/>
                        </a:rPr>
                        <a:t>Effective blockspace price</a:t>
                      </a:r>
                    </a:p>
                  </a:txBody>
                  <a:tcPr>
                    <a:solidFill>
                      <a:srgbClr val="F3F2EF"/>
                    </a:solidFill>
                  </a:tcPr>
                </a:tc>
                <a:tc>
                  <a:txBody>
                    <a:bodyPr/>
                    <a:lstStyle/>
                    <a:p>
                      <a:r>
                        <a:rPr sz="1000">
                          <a:solidFill>
                            <a:srgbClr val="0B0B0B"/>
                          </a:solidFill>
                          <a:latin typeface="Helvetica Neue"/>
                        </a:rPr>
                        <a:t>Median ETH paid per unit of gas, in mwei/gas</a:t>
                      </a:r>
                    </a:p>
                  </a:txBody>
                  <a:tcPr>
                    <a:solidFill>
                      <a:srgbClr val="F3F2EF"/>
                    </a:solidFill>
                  </a:tcPr>
                </a:tc>
                <a:tc>
                  <a:txBody>
                    <a:bodyPr/>
                    <a:lstStyle/>
                    <a:p>
                      <a:r>
                        <a:rPr sz="1000">
                          <a:solidFill>
                            <a:srgbClr val="0B0B0B"/>
                          </a:solidFill>
                          <a:latin typeface="Helvetica Neue"/>
                        </a:rPr>
                        <a:t>From a 90-day median of 1.36 to a 2.5 mwei floor, in stages</a:t>
                      </a:r>
                    </a:p>
                  </a:txBody>
                  <a:tcPr>
                    <a:solidFill>
                      <a:srgbClr val="F3F2EF"/>
                    </a:solidFill>
                  </a:tcPr>
                </a:tc>
                <a:tc>
                  <a:txBody>
                    <a:bodyPr/>
                    <a:lstStyle/>
                    <a:p>
                      <a:r>
                        <a:rPr sz="1000">
                          <a:solidFill>
                            <a:srgbClr val="0B0B0B"/>
                          </a:solidFill>
                          <a:latin typeface="Helvetica Neue"/>
                        </a:rPr>
                        <a:t>Product-Protocol</a:t>
                      </a:r>
                    </a:p>
                  </a:txBody>
                  <a:tcPr>
                    <a:solidFill>
                      <a:srgbClr val="F3F2EF"/>
                    </a:solidFill>
                  </a:tcPr>
                </a:tc>
              </a:tr>
              <a:tr h="457200">
                <a:tc>
                  <a:txBody>
                    <a:bodyPr/>
                    <a:lstStyle/>
                    <a:p>
                      <a:r>
                        <a:rPr sz="1000">
                          <a:solidFill>
                            <a:srgbClr val="0B0B0B"/>
                          </a:solidFill>
                          <a:latin typeface="Helvetica Neue"/>
                        </a:rPr>
                        <a:t>Base-load gas by segment (bots vs users)</a:t>
                      </a:r>
                    </a:p>
                  </a:txBody>
                  <a:tcPr>
                    <a:solidFill>
                      <a:srgbClr val="FFFFFF"/>
                    </a:solidFill>
                  </a:tcPr>
                </a:tc>
                <a:tc>
                  <a:txBody>
                    <a:bodyPr/>
                    <a:lstStyle/>
                    <a:p>
                      <a:r>
                        <a:rPr sz="1000">
                          <a:solidFill>
                            <a:srgbClr val="0B0B0B"/>
                          </a:solidFill>
                          <a:latin typeface="Helvetica Neue"/>
                        </a:rPr>
                        <a:t>Gas used per day, excluding spike days, split by customer segment</a:t>
                      </a:r>
                    </a:p>
                  </a:txBody>
                  <a:tcPr>
                    <a:solidFill>
                      <a:srgbClr val="FFFFFF"/>
                    </a:solidFill>
                  </a:tcPr>
                </a:tc>
                <a:tc>
                  <a:txBody>
                    <a:bodyPr/>
                    <a:lstStyle/>
                    <a:p>
                      <a:r>
                        <a:rPr sz="1000">
                          <a:solidFill>
                            <a:srgbClr val="0B0B0B"/>
                          </a:solidFill>
                          <a:latin typeface="Helvetica Neue"/>
                        </a:rPr>
                        <a:t>Bot gas no worse than -31%, user gas no worse than -6% at 2.5 mwei</a:t>
                      </a:r>
                    </a:p>
                  </a:txBody>
                  <a:tcPr>
                    <a:solidFill>
                      <a:srgbClr val="FFFFFF"/>
                    </a:solidFill>
                  </a:tcPr>
                </a:tc>
                <a:tc>
                  <a:txBody>
                    <a:bodyPr/>
                    <a:lstStyle/>
                    <a:p>
                      <a:r>
                        <a:rPr sz="1000">
                          <a:solidFill>
                            <a:srgbClr val="0B0B0B"/>
                          </a:solidFill>
                          <a:latin typeface="Helvetica Neue"/>
                        </a:rPr>
                        <a:t>Data</a:t>
                      </a:r>
                    </a:p>
                  </a:txBody>
                  <a:tcPr>
                    <a:solidFill>
                      <a:srgbClr val="FFFFFF"/>
                    </a:solidFill>
                  </a:tcPr>
                </a:tc>
              </a:tr>
              <a:tr h="457200">
                <a:tc>
                  <a:txBody>
                    <a:bodyPr/>
                    <a:lstStyle/>
                    <a:p>
                      <a:r>
                        <a:rPr sz="1000">
                          <a:solidFill>
                            <a:srgbClr val="0B0B0B"/>
                          </a:solidFill>
                          <a:latin typeface="Helvetica Neue"/>
                        </a:rPr>
                        <a:t>Typical user transaction cost</a:t>
                      </a:r>
                    </a:p>
                  </a:txBody>
                  <a:tcPr>
                    <a:solidFill>
                      <a:srgbClr val="F3F2EF"/>
                    </a:solidFill>
                  </a:tcPr>
                </a:tc>
                <a:tc>
                  <a:txBody>
                    <a:bodyPr/>
                    <a:lstStyle/>
                    <a:p>
                      <a:r>
                        <a:rPr sz="1000">
                          <a:solidFill>
                            <a:srgbClr val="0B0B0B"/>
                          </a:solidFill>
                          <a:latin typeface="Helvetica Neue"/>
                        </a:rPr>
                        <a:t>USD cost of a 234k-gas user transaction</a:t>
                      </a:r>
                    </a:p>
                  </a:txBody>
                  <a:tcPr>
                    <a:solidFill>
                      <a:srgbClr val="F3F2EF"/>
                    </a:solidFill>
                  </a:tcPr>
                </a:tc>
                <a:tc>
                  <a:txBody>
                    <a:bodyPr/>
                    <a:lstStyle/>
                    <a:p>
                      <a:r>
                        <a:rPr sz="1000">
                          <a:solidFill>
                            <a:srgbClr val="0B0B0B"/>
                          </a:solidFill>
                          <a:latin typeface="Helvetica Neue"/>
                        </a:rPr>
                        <a:t>Around $0.0014 at 2.5 mwei</a:t>
                      </a:r>
                    </a:p>
                  </a:txBody>
                  <a:tcPr>
                    <a:solidFill>
                      <a:srgbClr val="F3F2EF"/>
                    </a:solidFill>
                  </a:tcPr>
                </a:tc>
                <a:tc>
                  <a:txBody>
                    <a:bodyPr/>
                    <a:lstStyle/>
                    <a:p>
                      <a:r>
                        <a:rPr sz="1000">
                          <a:solidFill>
                            <a:srgbClr val="0B0B0B"/>
                          </a:solidFill>
                          <a:latin typeface="Helvetica Neue"/>
                        </a:rPr>
                        <a:t>Product-Protocol</a:t>
                      </a:r>
                    </a:p>
                  </a:txBody>
                  <a:tcPr>
                    <a:solidFill>
                      <a:srgbClr val="F3F2EF"/>
                    </a:solidFill>
                  </a:tcPr>
                </a:tc>
              </a:tr>
              <a:tr h="457200">
                <a:tc>
                  <a:txBody>
                    <a:bodyPr/>
                    <a:lstStyle/>
                    <a:p>
                      <a:r>
                        <a:rPr sz="1000">
                          <a:solidFill>
                            <a:srgbClr val="0B0B0B"/>
                          </a:solidFill>
                          <a:latin typeface="Helvetica Neue"/>
                        </a:rPr>
                        <a:t>Congestion premium share</a:t>
                      </a:r>
                    </a:p>
                  </a:txBody>
                  <a:tcPr>
                    <a:solidFill>
                      <a:srgbClr val="FFFFFF"/>
                    </a:solidFill>
                  </a:tcPr>
                </a:tc>
                <a:tc>
                  <a:txBody>
                    <a:bodyPr/>
                    <a:lstStyle/>
                    <a:p>
                      <a:r>
                        <a:rPr sz="1000">
                          <a:solidFill>
                            <a:srgbClr val="0B0B0B"/>
                          </a:solidFill>
                          <a:latin typeface="Helvetica Neue"/>
                        </a:rPr>
                        <a:t>Share of fees paid above the median price on volatile days</a:t>
                      </a:r>
                    </a:p>
                  </a:txBody>
                  <a:tcPr>
                    <a:solidFill>
                      <a:srgbClr val="FFFFFF"/>
                    </a:solidFill>
                  </a:tcPr>
                </a:tc>
                <a:tc>
                  <a:txBody>
                    <a:bodyPr/>
                    <a:lstStyle/>
                    <a:p>
                      <a:r>
                        <a:rPr sz="1000">
                          <a:solidFill>
                            <a:srgbClr val="0B0B0B"/>
                          </a:solidFill>
                          <a:latin typeface="Helvetica Neue"/>
                        </a:rPr>
                        <a:t>Track separately. Base case assumes 0.67x last year; last year it was ~40% of fees</a:t>
                      </a:r>
                    </a:p>
                  </a:txBody>
                  <a:tcPr>
                    <a:solidFill>
                      <a:srgbClr val="FFFFFF"/>
                    </a:solidFill>
                  </a:tcPr>
                </a:tc>
                <a:tc>
                  <a:txBody>
                    <a:bodyPr/>
                    <a:lstStyle/>
                    <a:p>
                      <a:r>
                        <a:rPr sz="1000">
                          <a:solidFill>
                            <a:srgbClr val="0B0B0B"/>
                          </a:solidFill>
                          <a:latin typeface="Helvetica Neue"/>
                        </a:rPr>
                        <a:t>Finance</a:t>
                      </a:r>
                    </a:p>
                  </a:txBody>
                  <a:tcPr>
                    <a:solidFill>
                      <a:srgbClr val="FFFFFF"/>
                    </a:solidFill>
                  </a:tcPr>
                </a:tc>
              </a:tr>
              <a:tr h="457200">
                <a:tc>
                  <a:txBody>
                    <a:bodyPr/>
                    <a:lstStyle/>
                    <a:p>
                      <a:r>
                        <a:rPr sz="1000">
                          <a:solidFill>
                            <a:srgbClr val="0B0B0B"/>
                          </a:solidFill>
                          <a:latin typeface="Helvetica Neue"/>
                        </a:rPr>
                        <a:t>L1 data leg balance</a:t>
                      </a:r>
                    </a:p>
                  </a:txBody>
                  <a:tcPr>
                    <a:solidFill>
                      <a:srgbClr val="F3F2EF"/>
                    </a:solidFill>
                  </a:tcPr>
                </a:tc>
                <a:tc>
                  <a:txBody>
                    <a:bodyPr/>
                    <a:lstStyle/>
                    <a:p>
                      <a:r>
                        <a:rPr sz="1000">
                          <a:solidFill>
                            <a:srgbClr val="0B0B0B"/>
                          </a:solidFill>
                          <a:latin typeface="Helvetica Neue"/>
                        </a:rPr>
                        <a:t>L1 data fees collected minus OP's Ethereum posting cost</a:t>
                      </a:r>
                    </a:p>
                  </a:txBody>
                  <a:tcPr>
                    <a:solidFill>
                      <a:srgbClr val="F3F2EF"/>
                    </a:solidFill>
                  </a:tcPr>
                </a:tc>
                <a:tc>
                  <a:txBody>
                    <a:bodyPr/>
                    <a:lstStyle/>
                    <a:p>
                      <a:r>
                        <a:rPr sz="1000">
                          <a:solidFill>
                            <a:srgbClr val="0B0B0B"/>
                          </a:solidFill>
                          <a:latin typeface="Helvetica Neue"/>
                        </a:rPr>
                        <a:t>At or above break-even, from about -$20k/yr today</a:t>
                      </a:r>
                    </a:p>
                  </a:txBody>
                  <a:tcPr>
                    <a:solidFill>
                      <a:srgbClr val="F3F2EF"/>
                    </a:solidFill>
                  </a:tcPr>
                </a:tc>
                <a:tc>
                  <a:txBody>
                    <a:bodyPr/>
                    <a:lstStyle/>
                    <a:p>
                      <a:r>
                        <a:rPr sz="1000">
                          <a:solidFill>
                            <a:srgbClr val="0B0B0B"/>
                          </a:solidFill>
                          <a:latin typeface="Helvetica Neue"/>
                        </a:rPr>
                        <a:t>Product-Protocol</a:t>
                      </a:r>
                    </a:p>
                  </a:txBody>
                  <a:tcPr>
                    <a:solidFill>
                      <a:srgbClr val="F3F2EF"/>
                    </a:solidFill>
                  </a:tcPr>
                </a:tc>
              </a:tr>
              <a:tr h="457200">
                <a:tc>
                  <a:txBody>
                    <a:bodyPr/>
                    <a:lstStyle/>
                    <a:p>
                      <a:r>
                        <a:rPr sz="1000">
                          <a:solidFill>
                            <a:srgbClr val="0B0B0B"/>
                          </a:solidFill>
                          <a:latin typeface="Helvetica Neue"/>
                        </a:rPr>
                        <a:t>Paying-customer retention</a:t>
                      </a:r>
                    </a:p>
                  </a:txBody>
                  <a:tcPr>
                    <a:solidFill>
                      <a:srgbClr val="FFFFFF"/>
                    </a:solidFill>
                  </a:tcPr>
                </a:tc>
                <a:tc>
                  <a:txBody>
                    <a:bodyPr/>
                    <a:lstStyle/>
                    <a:p>
                      <a:r>
                        <a:rPr sz="1000">
                          <a:solidFill>
                            <a:srgbClr val="0B0B0B"/>
                          </a:solidFill>
                          <a:latin typeface="Helvetica Neue"/>
                        </a:rPr>
                        <a:t>Share of $10+/month payers still paying after 3 months, and their net revenue retention</a:t>
                      </a:r>
                    </a:p>
                  </a:txBody>
                  <a:tcPr>
                    <a:solidFill>
                      <a:srgbClr val="FFFFFF"/>
                    </a:solidFill>
                  </a:tcPr>
                </a:tc>
                <a:tc>
                  <a:txBody>
                    <a:bodyPr/>
                    <a:lstStyle/>
                    <a:p>
                      <a:r>
                        <a:rPr sz="1000">
                          <a:solidFill>
                            <a:srgbClr val="0B0B0B"/>
                          </a:solidFill>
                          <a:latin typeface="Helvetica Neue"/>
                        </a:rPr>
                        <a:t>Improve on the ~53% (customers) and 43% (revenue) baselines</a:t>
                      </a:r>
                    </a:p>
                  </a:txBody>
                  <a:tcPr>
                    <a:solidFill>
                      <a:srgbClr val="FFFFFF"/>
                    </a:solidFill>
                  </a:tcPr>
                </a:tc>
                <a:tc>
                  <a:txBody>
                    <a:bodyPr/>
                    <a:lstStyle/>
                    <a:p>
                      <a:r>
                        <a:rPr sz="1000">
                          <a:solidFill>
                            <a:srgbClr val="0B0B0B"/>
                          </a:solidFill>
                          <a:latin typeface="Helvetica Neue"/>
                        </a:rPr>
                        <a:t>Business Development</a:t>
                      </a:r>
                    </a:p>
                  </a:txBody>
                  <a:tcPr>
                    <a:solidFill>
                      <a:srgbClr val="FFFFFF"/>
                    </a:solidFill>
                  </a:tcPr>
                </a:tc>
              </a:tr>
              <a:tr h="457200">
                <a:tc>
                  <a:txBody>
                    <a:bodyPr/>
                    <a:lstStyle/>
                    <a:p>
                      <a:r>
                        <a:rPr sz="1000">
                          <a:solidFill>
                            <a:srgbClr val="0B0B0B"/>
                          </a:solidFill>
                          <a:latin typeface="Helvetica Neue"/>
                        </a:rPr>
                        <a:t>Payments flow</a:t>
                      </a:r>
                    </a:p>
                  </a:txBody>
                  <a:tcPr>
                    <a:solidFill>
                      <a:srgbClr val="F3F2EF"/>
                    </a:solidFill>
                  </a:tcPr>
                </a:tc>
                <a:tc>
                  <a:txBody>
                    <a:bodyPr/>
                    <a:lstStyle/>
                    <a:p>
                      <a:r>
                        <a:rPr sz="1000">
                          <a:solidFill>
                            <a:srgbClr val="0B0B0B"/>
                          </a:solidFill>
                          <a:latin typeface="Helvetica Neue"/>
                        </a:rPr>
                        <a:t>Adjusted stablecoin transfer volume per quarter, plus native stablecoin supply</a:t>
                      </a:r>
                    </a:p>
                  </a:txBody>
                  <a:tcPr>
                    <a:solidFill>
                      <a:srgbClr val="F3F2EF"/>
                    </a:solidFill>
                  </a:tcPr>
                </a:tc>
                <a:tc>
                  <a:txBody>
                    <a:bodyPr/>
                    <a:lstStyle/>
                    <a:p>
                      <a:r>
                        <a:rPr sz="1000">
                          <a:solidFill>
                            <a:srgbClr val="0B0B0B"/>
                          </a:solidFill>
                          <a:latin typeface="Helvetica Neue"/>
                        </a:rPr>
                        <a:t>Above $1.81B/qtr volume; supply recovering from $208M; 2 issuers signed</a:t>
                      </a:r>
                    </a:p>
                  </a:txBody>
                  <a:tcPr>
                    <a:solidFill>
                      <a:srgbClr val="F3F2EF"/>
                    </a:solidFill>
                  </a:tcPr>
                </a:tc>
                <a:tc>
                  <a:txBody>
                    <a:bodyPr/>
                    <a:lstStyle/>
                    <a:p>
                      <a:r>
                        <a:rPr sz="1000">
                          <a:solidFill>
                            <a:srgbClr val="0B0B0B"/>
                          </a:solidFill>
                          <a:latin typeface="Helvetica Neue"/>
                        </a:rPr>
                        <a:t>Business Development</a:t>
                      </a:r>
                    </a:p>
                  </a:txBody>
                  <a:tcPr>
                    <a:solidFill>
                      <a:srgbClr val="F3F2EF"/>
                    </a:solidFill>
                  </a:tcPr>
                </a:tc>
              </a:tr>
              <a:tr h="457200">
                <a:tc>
                  <a:txBody>
                    <a:bodyPr/>
                    <a:lstStyle/>
                    <a:p>
                      <a:r>
                        <a:rPr sz="1000">
                          <a:solidFill>
                            <a:srgbClr val="0B0B0B"/>
                          </a:solidFill>
                          <a:latin typeface="Helvetica Neue"/>
                        </a:rPr>
                        <a:t>Competitive price gap and flow share</a:t>
                      </a:r>
                    </a:p>
                  </a:txBody>
                  <a:tcPr>
                    <a:solidFill>
                      <a:srgbClr val="FFFFFF"/>
                    </a:solidFill>
                  </a:tcPr>
                </a:tc>
                <a:tc>
                  <a:txBody>
                    <a:bodyPr/>
                    <a:lstStyle/>
                    <a:p>
                      <a:r>
                        <a:rPr sz="1000">
                          <a:solidFill>
                            <a:srgbClr val="0B0B0B"/>
                          </a:solidFill>
                          <a:latin typeface="Helvetica Neue"/>
                        </a:rPr>
                        <a:t>OP's minimum base fee versus Base's 0.5 mwei, and the share of top bots still active</a:t>
                      </a:r>
                    </a:p>
                  </a:txBody>
                  <a:tcPr>
                    <a:solidFill>
                      <a:srgbClr val="FFFFFF"/>
                    </a:solidFill>
                  </a:tcPr>
                </a:tc>
                <a:tc>
                  <a:txBody>
                    <a:bodyPr/>
                    <a:lstStyle/>
                    <a:p>
                      <a:r>
                        <a:rPr sz="1000">
                          <a:solidFill>
                            <a:srgbClr val="0B0B0B"/>
                          </a:solidFill>
                          <a:latin typeface="Helvetica Neue"/>
                        </a:rPr>
                        <a:t>Pause the next floor stage if top-payer activity drops beyond the modelled bot response</a:t>
                      </a:r>
                    </a:p>
                  </a:txBody>
                  <a:tcPr>
                    <a:solidFill>
                      <a:srgbClr val="FFFFFF"/>
                    </a:solidFill>
                  </a:tcPr>
                </a:tc>
                <a:tc>
                  <a:txBody>
                    <a:bodyPr/>
                    <a:lstStyle/>
                    <a:p>
                      <a:r>
                        <a:rPr sz="1000">
                          <a:solidFill>
                            <a:srgbClr val="0B0B0B"/>
                          </a:solidFill>
                          <a:latin typeface="Helvetica Neue"/>
                        </a:rPr>
                        <a:t>Data</a:t>
                      </a:r>
                    </a:p>
                  </a:txBody>
                  <a:tcP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21</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3 · RISKS &amp; NEXT STEPS</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What could go wrong, and what happens in the first 90 days</a:t>
            </a:r>
          </a:p>
        </p:txBody>
      </p:sp>
      <p:graphicFrame>
        <p:nvGraphicFramePr>
          <p:cNvPr id="6" name="Table 5"/>
          <p:cNvGraphicFramePr>
            <a:graphicFrameLocks noGrp="1"/>
          </p:cNvGraphicFramePr>
          <p:nvPr/>
        </p:nvGraphicFramePr>
        <p:xfrm>
          <a:off x="548640" y="1554480"/>
          <a:ext cx="6400800" cy="3520440"/>
        </p:xfrm>
        <a:graphic>
          <a:graphicData uri="http://schemas.openxmlformats.org/drawingml/2006/table">
            <a:tbl>
              <a:tblPr firstRow="1" bandRow="1">
                <a:tableStyleId>{5C22544A-7EE6-4342-B048-85BDC9FD1C3A}</a:tableStyleId>
              </a:tblPr>
              <a:tblGrid>
                <a:gridCol w="2743200"/>
                <a:gridCol w="3657600"/>
              </a:tblGrid>
              <a:tr h="502920">
                <a:tc>
                  <a:txBody>
                    <a:bodyPr/>
                    <a:lstStyle/>
                    <a:p>
                      <a:r>
                        <a:rPr sz="1000" b="1">
                          <a:solidFill>
                            <a:srgbClr val="FFFFFF"/>
                          </a:solidFill>
                          <a:latin typeface="Helvetica Neue"/>
                        </a:rPr>
                        <a:t>Risk</a:t>
                      </a:r>
                    </a:p>
                  </a:txBody>
                  <a:tcPr>
                    <a:solidFill>
                      <a:srgbClr val="0B0B0B"/>
                    </a:solidFill>
                  </a:tcPr>
                </a:tc>
                <a:tc>
                  <a:txBody>
                    <a:bodyPr/>
                    <a:lstStyle/>
                    <a:p>
                      <a:r>
                        <a:rPr sz="1000" b="1">
                          <a:solidFill>
                            <a:srgbClr val="FFFFFF"/>
                          </a:solidFill>
                          <a:latin typeface="Helvetica Neue"/>
                        </a:rPr>
                        <a:t>Mitigation</a:t>
                      </a:r>
                    </a:p>
                  </a:txBody>
                  <a:tcPr>
                    <a:solidFill>
                      <a:srgbClr val="0B0B0B"/>
                    </a:solidFill>
                  </a:tcPr>
                </a:tc>
              </a:tr>
              <a:tr h="502920">
                <a:tc>
                  <a:txBody>
                    <a:bodyPr/>
                    <a:lstStyle/>
                    <a:p>
                      <a:r>
                        <a:rPr sz="1000">
                          <a:solidFill>
                            <a:srgbClr val="0B0B0B"/>
                          </a:solidFill>
                          <a:latin typeface="Helvetica Neue"/>
                        </a:rPr>
                        <a:t>Bots react more strongly to a floor than assumed. Bot elasticity is the biggest unknown.</a:t>
                      </a:r>
                    </a:p>
                  </a:txBody>
                  <a:tcPr>
                    <a:solidFill>
                      <a:srgbClr val="FFFFFF"/>
                    </a:solidFill>
                  </a:tcPr>
                </a:tc>
                <a:tc>
                  <a:txBody>
                    <a:bodyPr/>
                    <a:lstStyle/>
                    <a:p>
                      <a:r>
                        <a:rPr sz="1000">
                          <a:solidFill>
                            <a:srgbClr val="0B0B0B"/>
                          </a:solidFill>
                          <a:latin typeface="Helvetica Neue"/>
                        </a:rPr>
                        <a:t>Stage the rollout 1.5 -&gt; 2.0 -&gt; 2.5 mwei and measure at each step. Even at -1.2 the base case is $0.98M, above the $0.90M no-action line.</a:t>
                      </a:r>
                    </a:p>
                  </a:txBody>
                  <a:tcPr>
                    <a:solidFill>
                      <a:srgbClr val="FFFFFF"/>
                    </a:solidFill>
                  </a:tcPr>
                </a:tc>
              </a:tr>
              <a:tr h="502920">
                <a:tc>
                  <a:txBody>
                    <a:bodyPr/>
                    <a:lstStyle/>
                    <a:p>
                      <a:r>
                        <a:rPr sz="1000">
                          <a:solidFill>
                            <a:srgbClr val="0B0B0B"/>
                          </a:solidFill>
                          <a:latin typeface="Helvetica Neue"/>
                        </a:rPr>
                        <a:t>Flow moves to Base, Arbitrum or other chains. Base's floor is 0.5 mwei.</a:t>
                      </a:r>
                    </a:p>
                  </a:txBody>
                  <a:tcPr>
                    <a:solidFill>
                      <a:srgbClr val="F3F2EF"/>
                    </a:solidFill>
                  </a:tcPr>
                </a:tc>
                <a:tc>
                  <a:txBody>
                    <a:bodyPr/>
                    <a:lstStyle/>
                    <a:p>
                      <a:r>
                        <a:rPr sz="1000">
                          <a:solidFill>
                            <a:srgbClr val="0B0B0B"/>
                          </a:solidFill>
                          <a:latin typeface="Helvetica Neue"/>
                        </a:rPr>
                        <a:t>Track top-payer activity weekly. Pause or roll back a stage if the bot response exceeds the modelled -31%.</a:t>
                      </a:r>
                    </a:p>
                  </a:txBody>
                  <a:tcPr>
                    <a:solidFill>
                      <a:srgbClr val="F3F2EF"/>
                    </a:solidFill>
                  </a:tcPr>
                </a:tc>
              </a:tr>
              <a:tr h="502920">
                <a:tc>
                  <a:txBody>
                    <a:bodyPr/>
                    <a:lstStyle/>
                    <a:p>
                      <a:r>
                        <a:rPr sz="1000">
                          <a:solidFill>
                            <a:srgbClr val="0B0B0B"/>
                          </a:solidFill>
                          <a:latin typeface="Helvetica Neue"/>
                        </a:rPr>
                        <a:t>ETH price swings dominate the result: -40%/+40% gives $0.72M-$1.66M.</a:t>
                      </a:r>
                    </a:p>
                  </a:txBody>
                  <a:tcPr>
                    <a:solidFill>
                      <a:srgbClr val="FFFFFF"/>
                    </a:solidFill>
                  </a:tcPr>
                </a:tc>
                <a:tc>
                  <a:txBody>
                    <a:bodyPr/>
                    <a:lstStyle/>
                    <a:p>
                      <a:r>
                        <a:rPr sz="1000">
                          <a:solidFill>
                            <a:srgbClr val="0B0B0B"/>
                          </a:solidFill>
                          <a:latin typeface="Helvetica Neue"/>
                        </a:rPr>
                        <a:t>Finance plans in both ETH and USD and reports the levers' effect separately from ETH moves.</a:t>
                      </a:r>
                    </a:p>
                  </a:txBody>
                  <a:tcPr>
                    <a:solidFill>
                      <a:srgbClr val="FFFFFF"/>
                    </a:solidFill>
                  </a:tcPr>
                </a:tc>
              </a:tr>
              <a:tr h="502920">
                <a:tc>
                  <a:txBody>
                    <a:bodyPr/>
                    <a:lstStyle/>
                    <a:p>
                      <a:r>
                        <a:rPr sz="1000">
                          <a:solidFill>
                            <a:srgbClr val="0B0B0B"/>
                          </a:solidFill>
                          <a:latin typeface="Helvetica Neue"/>
                        </a:rPr>
                        <a:t>Spike dependence: one day (Oct 10 2025) was 20% of the year, and a calm year undershoots.</a:t>
                      </a:r>
                    </a:p>
                  </a:txBody>
                  <a:tcPr>
                    <a:solidFill>
                      <a:srgbClr val="F3F2EF"/>
                    </a:solidFill>
                  </a:tcPr>
                </a:tc>
                <a:tc>
                  <a:txBody>
                    <a:bodyPr/>
                    <a:lstStyle/>
                    <a:p>
                      <a:r>
                        <a:rPr sz="1000">
                          <a:solidFill>
                            <a:srgbClr val="0B0B0B"/>
                          </a:solidFill>
                          <a:latin typeface="Helvetica Neue"/>
                        </a:rPr>
                        <a:t>Budget on base load. The base case already assumes no crash on that scale (0.67x last year's congestion premium).</a:t>
                      </a:r>
                    </a:p>
                  </a:txBody>
                  <a:tcPr>
                    <a:solidFill>
                      <a:srgbClr val="F3F2EF"/>
                    </a:solidFill>
                  </a:tcPr>
                </a:tc>
              </a:tr>
              <a:tr h="502920">
                <a:tc>
                  <a:txBody>
                    <a:bodyPr/>
                    <a:lstStyle/>
                    <a:p>
                      <a:r>
                        <a:rPr sz="1000">
                          <a:solidFill>
                            <a:srgbClr val="0B0B0B"/>
                          </a:solidFill>
                          <a:latin typeface="Helvetica Neue"/>
                        </a:rPr>
                        <a:t>Concentration: the top 10 customers pay 50%, and 7 of them are bots.</a:t>
                      </a:r>
                    </a:p>
                  </a:txBody>
                  <a:tcPr>
                    <a:solidFill>
                      <a:srgbClr val="FFFFFF"/>
                    </a:solidFill>
                  </a:tcPr>
                </a:tc>
                <a:tc>
                  <a:txBody>
                    <a:bodyPr/>
                    <a:lstStyle/>
                    <a:p>
                      <a:r>
                        <a:rPr sz="1000">
                          <a:solidFill>
                            <a:srgbClr val="0B0B0B"/>
                          </a:solidFill>
                          <a:latin typeface="Helvetica Neue"/>
                        </a:rPr>
                        <a:t>Monitor the top payers individually as key accounts, and diversify through payments and OP Enterprise.</a:t>
                      </a:r>
                    </a:p>
                  </a:txBody>
                  <a:tcPr>
                    <a:solidFill>
                      <a:srgbClr val="FFFFFF"/>
                    </a:solidFill>
                  </a:tcPr>
                </a:tc>
              </a:tr>
              <a:tr h="502920">
                <a:tc>
                  <a:txBody>
                    <a:bodyPr/>
                    <a:lstStyle/>
                    <a:p>
                      <a:r>
                        <a:rPr sz="1000">
                          <a:solidFill>
                            <a:srgbClr val="0B0B0B"/>
                          </a:solidFill>
                          <a:latin typeface="Helvetica Neue"/>
                        </a:rPr>
                        <a:t>Measurement gaps: bot labels are heuristic (~340 of 1,082 addresses labelled), the L1 cost source is uncertain, and the current minBaseFee is unverified.</a:t>
                      </a:r>
                    </a:p>
                  </a:txBody>
                  <a:tcPr>
                    <a:solidFill>
                      <a:srgbClr val="F3F2EF"/>
                    </a:solidFill>
                  </a:tcPr>
                </a:tc>
                <a:tc>
                  <a:txBody>
                    <a:bodyPr/>
                    <a:lstStyle/>
                    <a:p>
                      <a:r>
                        <a:rPr sz="1000">
                          <a:solidFill>
                            <a:srgbClr val="0B0B0B"/>
                          </a:solidFill>
                          <a:latin typeface="Helvetica Neue"/>
                        </a:rPr>
                        <a:t>Data checks the on-chain configuration, rebuilds L1 cost from batcher transactions and improves address labels before stage one.</a:t>
                      </a:r>
                    </a:p>
                  </a:txBody>
                  <a:tcPr>
                    <a:solidFill>
                      <a:srgbClr val="F3F2EF"/>
                    </a:solidFill>
                  </a:tcPr>
                </a:tc>
              </a:tr>
            </a:tbl>
          </a:graphicData>
        </a:graphic>
      </p:graphicFrame>
      <p:sp>
        <p:nvSpPr>
          <p:cNvPr id="7" name="Rectangle 6"/>
          <p:cNvSpPr/>
          <p:nvPr/>
        </p:nvSpPr>
        <p:spPr>
          <a:xfrm>
            <a:off x="7178040" y="1463040"/>
            <a:ext cx="4434840" cy="155448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1536192"/>
            <a:ext cx="4206240" cy="274320"/>
          </a:xfrm>
          <a:prstGeom prst="rect">
            <a:avLst/>
          </a:prstGeom>
          <a:noFill/>
        </p:spPr>
        <p:txBody>
          <a:bodyPr wrap="square" anchor="t" lIns="0" rIns="0">
            <a:spAutoFit/>
          </a:bodyPr>
          <a:lstStyle/>
          <a:p>
            <a:pPr algn="l"/>
            <a:r>
              <a:rPr sz="1200" b="1">
                <a:solidFill>
                  <a:srgbClr val="FF0420"/>
                </a:solidFill>
                <a:latin typeface="Helvetica Neue"/>
              </a:rPr>
              <a:t>By day 30</a:t>
            </a:r>
          </a:p>
        </p:txBody>
      </p:sp>
      <p:sp>
        <p:nvSpPr>
          <p:cNvPr id="9" name="TextBox 8"/>
          <p:cNvSpPr txBox="1"/>
          <p:nvPr/>
        </p:nvSpPr>
        <p:spPr>
          <a:xfrm>
            <a:off x="7315200" y="1792224"/>
            <a:ext cx="4206240" cy="1188720"/>
          </a:xfrm>
          <a:prstGeom prst="rect">
            <a:avLst/>
          </a:prstGeom>
          <a:noFill/>
        </p:spPr>
        <p:txBody>
          <a:bodyPr wrap="square" lIns="0" rIns="0">
            <a:spAutoFit/>
          </a:bodyPr>
          <a:lstStyle/>
          <a:p>
            <a:pPr>
              <a:spcAft>
                <a:spcPts val="100"/>
              </a:spcAft>
            </a:pPr>
            <a:r>
              <a:rPr sz="1000">
                <a:solidFill>
                  <a:srgbClr val="0B0B0B"/>
                </a:solidFill>
                <a:latin typeface="Helvetica Neue"/>
              </a:rPr>
              <a:t>▪  Product-Protocol: verify OP Mainnet's current minBaseFee and the governance path for changing it</a:t>
            </a:r>
          </a:p>
          <a:p>
            <a:pPr>
              <a:spcAft>
                <a:spcPts val="100"/>
              </a:spcAft>
            </a:pPr>
            <a:r>
              <a:rPr sz="1000">
                <a:solidFill>
                  <a:srgbClr val="0B0B0B"/>
                </a:solidFill>
                <a:latin typeface="Helvetica Neue"/>
              </a:rPr>
              <a:t>▪  Product-Protocol: re-tune the L1 data fee scalars to break even</a:t>
            </a:r>
          </a:p>
          <a:p>
            <a:pPr>
              <a:spcAft>
                <a:spcPts val="100"/>
              </a:spcAft>
            </a:pPr>
            <a:r>
              <a:rPr sz="1000">
                <a:solidFill>
                  <a:srgbClr val="0B0B0B"/>
                </a:solidFill>
                <a:latin typeface="Helvetica Neue"/>
              </a:rPr>
              <a:t>▪  Data: build the KPI dashboard (price, base-load gas by segment, top-payer activity, L1 data leg)</a:t>
            </a:r>
          </a:p>
          <a:p>
            <a:pPr>
              <a:spcAft>
                <a:spcPts val="100"/>
              </a:spcAft>
            </a:pPr>
            <a:r>
              <a:rPr sz="1000">
                <a:solidFill>
                  <a:srgbClr val="0B0B0B"/>
                </a:solidFill>
                <a:latin typeface="Helvetica Neue"/>
              </a:rPr>
              <a:t>▪  Finance: re-base the 12-month budget to the $0.90M no-action line and the $1.19M plan</a:t>
            </a:r>
          </a:p>
        </p:txBody>
      </p:sp>
      <p:sp>
        <p:nvSpPr>
          <p:cNvPr id="10" name="Rectangle 9"/>
          <p:cNvSpPr/>
          <p:nvPr/>
        </p:nvSpPr>
        <p:spPr>
          <a:xfrm>
            <a:off x="7178040" y="3090672"/>
            <a:ext cx="4434840" cy="155448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0" y="3163824"/>
            <a:ext cx="4206240" cy="274320"/>
          </a:xfrm>
          <a:prstGeom prst="rect">
            <a:avLst/>
          </a:prstGeom>
          <a:noFill/>
        </p:spPr>
        <p:txBody>
          <a:bodyPr wrap="square" anchor="t" lIns="0" rIns="0">
            <a:spAutoFit/>
          </a:bodyPr>
          <a:lstStyle/>
          <a:p>
            <a:pPr algn="l"/>
            <a:r>
              <a:rPr sz="1200" b="1">
                <a:solidFill>
                  <a:srgbClr val="FF0420"/>
                </a:solidFill>
                <a:latin typeface="Helvetica Neue"/>
              </a:rPr>
              <a:t>By day 60</a:t>
            </a:r>
          </a:p>
        </p:txBody>
      </p:sp>
      <p:sp>
        <p:nvSpPr>
          <p:cNvPr id="12" name="TextBox 11"/>
          <p:cNvSpPr txBox="1"/>
          <p:nvPr/>
        </p:nvSpPr>
        <p:spPr>
          <a:xfrm>
            <a:off x="7315200" y="3419856"/>
            <a:ext cx="4206240" cy="1188720"/>
          </a:xfrm>
          <a:prstGeom prst="rect">
            <a:avLst/>
          </a:prstGeom>
          <a:noFill/>
        </p:spPr>
        <p:txBody>
          <a:bodyPr wrap="square" lIns="0" rIns="0">
            <a:spAutoFit/>
          </a:bodyPr>
          <a:lstStyle/>
          <a:p>
            <a:pPr>
              <a:spcAft>
                <a:spcPts val="100"/>
              </a:spcAft>
            </a:pPr>
            <a:r>
              <a:rPr sz="1000">
                <a:solidFill>
                  <a:srgbClr val="0B0B0B"/>
                </a:solidFill>
                <a:latin typeface="Helvetica Neue"/>
              </a:rPr>
              <a:t>▪  Product-Protocol: ship floor stage one at 1.5 mwei/gas</a:t>
            </a:r>
          </a:p>
          <a:p>
            <a:pPr>
              <a:spcAft>
                <a:spcPts val="100"/>
              </a:spcAft>
            </a:pPr>
            <a:r>
              <a:rPr sz="1000">
                <a:solidFill>
                  <a:srgbClr val="0B0B0B"/>
                </a:solidFill>
                <a:latin typeface="Helvetica Neue"/>
              </a:rPr>
              <a:t>▪  Data: measure the bot and user response against the modelled elasticities</a:t>
            </a:r>
          </a:p>
          <a:p>
            <a:pPr>
              <a:spcAft>
                <a:spcPts val="100"/>
              </a:spcAft>
            </a:pPr>
            <a:r>
              <a:rPr sz="1000">
                <a:solidFill>
                  <a:srgbClr val="0B0B0B"/>
                </a:solidFill>
                <a:latin typeface="Helvetica Neue"/>
              </a:rPr>
              <a:t>▪  BD: build a target list of payments issuers and an OP Enterprise offer with pricing (with Finance)</a:t>
            </a:r>
          </a:p>
        </p:txBody>
      </p:sp>
      <p:sp>
        <p:nvSpPr>
          <p:cNvPr id="13" name="Rectangle 12"/>
          <p:cNvSpPr/>
          <p:nvPr/>
        </p:nvSpPr>
        <p:spPr>
          <a:xfrm>
            <a:off x="7178040" y="4718304"/>
            <a:ext cx="4434840" cy="1554480"/>
          </a:xfrm>
          <a:prstGeom prst="rect">
            <a:avLst/>
          </a:prstGeom>
          <a:solidFill>
            <a:srgbClr val="F3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4791456"/>
            <a:ext cx="4206240" cy="274320"/>
          </a:xfrm>
          <a:prstGeom prst="rect">
            <a:avLst/>
          </a:prstGeom>
          <a:noFill/>
        </p:spPr>
        <p:txBody>
          <a:bodyPr wrap="square" anchor="t" lIns="0" rIns="0">
            <a:spAutoFit/>
          </a:bodyPr>
          <a:lstStyle/>
          <a:p>
            <a:pPr algn="l"/>
            <a:r>
              <a:rPr sz="1200" b="1">
                <a:solidFill>
                  <a:srgbClr val="FF0420"/>
                </a:solidFill>
                <a:latin typeface="Helvetica Neue"/>
              </a:rPr>
              <a:t>By day 90</a:t>
            </a:r>
          </a:p>
        </p:txBody>
      </p:sp>
      <p:sp>
        <p:nvSpPr>
          <p:cNvPr id="15" name="TextBox 14"/>
          <p:cNvSpPr txBox="1"/>
          <p:nvPr/>
        </p:nvSpPr>
        <p:spPr>
          <a:xfrm>
            <a:off x="7315200" y="5047488"/>
            <a:ext cx="4206240" cy="1188720"/>
          </a:xfrm>
          <a:prstGeom prst="rect">
            <a:avLst/>
          </a:prstGeom>
          <a:noFill/>
        </p:spPr>
        <p:txBody>
          <a:bodyPr wrap="square" lIns="0" rIns="0">
            <a:spAutoFit/>
          </a:bodyPr>
          <a:lstStyle/>
          <a:p>
            <a:pPr>
              <a:spcAft>
                <a:spcPts val="100"/>
              </a:spcAft>
            </a:pPr>
            <a:r>
              <a:rPr sz="1000">
                <a:solidFill>
                  <a:srgbClr val="0B0B0B"/>
                </a:solidFill>
                <a:latin typeface="Helvetica Neue"/>
              </a:rPr>
              <a:t>▪  Leadership: go/no-go on 2.0 mwei based on the stage-one guardrails</a:t>
            </a:r>
          </a:p>
          <a:p>
            <a:pPr>
              <a:spcAft>
                <a:spcPts val="100"/>
              </a:spcAft>
            </a:pPr>
            <a:r>
              <a:rPr sz="1000">
                <a:solidFill>
                  <a:srgbClr val="0B0B0B"/>
                </a:solidFill>
                <a:latin typeface="Helvetica Neue"/>
              </a:rPr>
              <a:t>▪  BD: have the first issuer and chain conversations in qualified pipeline</a:t>
            </a:r>
          </a:p>
          <a:p>
            <a:pPr>
              <a:spcAft>
                <a:spcPts val="100"/>
              </a:spcAft>
            </a:pPr>
            <a:r>
              <a:rPr sz="1000">
                <a:solidFill>
                  <a:srgbClr val="0B0B0B"/>
                </a:solidFill>
                <a:latin typeface="Helvetica Neue"/>
              </a:rPr>
              <a:t>▪  Finance and Data: re-forecast with the measured elasticity and replace the assumed -0.6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22</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APPENDIX</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Appendix A: definitions, data sources and how AI was used</a:t>
            </a:r>
          </a:p>
        </p:txBody>
      </p:sp>
      <p:sp>
        <p:nvSpPr>
          <p:cNvPr id="6" name="TextBox 5"/>
          <p:cNvSpPr txBox="1"/>
          <p:nvPr/>
        </p:nvSpPr>
        <p:spPr>
          <a:xfrm>
            <a:off x="548640" y="1554480"/>
            <a:ext cx="11064240" cy="4754880"/>
          </a:xfrm>
          <a:prstGeom prst="rect">
            <a:avLst/>
          </a:prstGeom>
          <a:noFill/>
        </p:spPr>
        <p:txBody>
          <a:bodyPr wrap="square" lIns="0" rIns="0">
            <a:spAutoFit/>
          </a:bodyPr>
          <a:lstStyle/>
          <a:p>
            <a:pPr>
              <a:spcAft>
                <a:spcPts val="600"/>
              </a:spcAft>
            </a:pPr>
            <a:r>
              <a:rPr sz="1300">
                <a:solidFill>
                  <a:srgbClr val="0B0B0B"/>
                </a:solidFill>
                <a:latin typeface="Helvetica Neue"/>
              </a:rPr>
              <a:t>▪  Our share = sequencer revenue = user fees on OP Mainnet (execution + L1 data fee, file 01) − what OP pays Ethereum to post data.</a:t>
            </a:r>
          </a:p>
          <a:p>
            <a:pPr>
              <a:spcAft>
                <a:spcPts val="600"/>
              </a:spcAft>
            </a:pPr>
            <a:r>
              <a:rPr sz="1300">
                <a:solidFill>
                  <a:srgbClr val="0B0B0B"/>
                </a:solidFill>
                <a:latin typeface="Helvetica Neue"/>
              </a:rPr>
              <a:t>▪  L1 cost is not in the files provided. Primary source: DefiLlama op-mainnet (fees − revenue), daily; its last-12m gross differs from file 01 by -3.37%. Cross-check: growthepie (last ~90 days). An on-chain rebuild via Blockscout was coded (external/fetch_l1_costs.py) but rate-limited.</a:t>
            </a:r>
          </a:p>
          <a:p>
            <a:pPr>
              <a:spcAft>
                <a:spcPts val="600"/>
              </a:spcAft>
            </a:pPr>
            <a:r>
              <a:rPr sz="1300">
                <a:solidFill>
                  <a:srgbClr val="0B0B0B"/>
                </a:solidFill>
                <a:latin typeface="Helvetica Neue"/>
              </a:rPr>
              <a:t>▪  Customers: fees are assigned to the destination contract (file 06). Contracts are grouped into apps by label precedence: Allium entity → Dune namespace → display name → Dune owner. Bot = no name AND (≤5 senders/day OR ≥50 txs per sender-day).</a:t>
            </a:r>
          </a:p>
          <a:p>
            <a:pPr>
              <a:spcAft>
                <a:spcPts val="600"/>
              </a:spcAft>
            </a:pPr>
            <a:r>
              <a:rPr sz="1300">
                <a:solidFill>
                  <a:srgbClr val="0B0B0B"/>
                </a:solidFill>
                <a:latin typeface="Helvetica Neue"/>
              </a:rPr>
              <a:t>▪  App earnings: DefiLlama fees/revenue (file 08), mapped to the same app names. Gas paid by apps is a floor (small contracts sit in 'other').</a:t>
            </a:r>
          </a:p>
          <a:p>
            <a:pPr>
              <a:spcAft>
                <a:spcPts val="600"/>
              </a:spcAft>
            </a:pPr>
            <a:r>
              <a:rPr sz="1300">
                <a:solidFill>
                  <a:srgbClr val="0B0B0B"/>
                </a:solidFill>
                <a:latin typeface="Helvetica Neue"/>
              </a:rPr>
              <a:t>▪  Window: last 12 months = 2025-09-16 → 2026-09-15 (365 days); the prior period is compared per day because data starts 2025-01-01.</a:t>
            </a:r>
          </a:p>
          <a:p>
            <a:pPr>
              <a:spcAft>
                <a:spcPts val="600"/>
              </a:spcAft>
            </a:pPr>
            <a:r>
              <a:rPr sz="1300">
                <a:solidFill>
                  <a:srgbClr val="0B0B0B"/>
                </a:solidFill>
                <a:latin typeface="Helvetica Neue"/>
              </a:rPr>
              <a:t>▪  AI use: Claude Code wrote the SQL/Python and ran it. Every number is produced by code, never typed in. Checks: 13 automated integrity tests (06 reconciles to 01 within 0.012%/day), cross-source L1/gross checks, and a manual read of every chart. A performance-optimizer agent had to prove its changes were output-identical, and a business-translation agent drafted copy that was checked figure-by-figure against the outputs (src/verify_copy.py).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23</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APPENDIX</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Appendix B: reproducible pipeline (one command rebuilds every number and this deck)</a:t>
            </a:r>
          </a:p>
        </p:txBody>
      </p:sp>
      <p:graphicFrame>
        <p:nvGraphicFramePr>
          <p:cNvPr id="6" name="Table 5"/>
          <p:cNvGraphicFramePr>
            <a:graphicFrameLocks noGrp="1"/>
          </p:cNvGraphicFramePr>
          <p:nvPr/>
        </p:nvGraphicFramePr>
        <p:xfrm>
          <a:off x="548640" y="1554480"/>
          <a:ext cx="7315200" cy="4279392"/>
        </p:xfrm>
        <a:graphic>
          <a:graphicData uri="http://schemas.openxmlformats.org/drawingml/2006/table">
            <a:tbl>
              <a:tblPr firstRow="1" bandRow="1">
                <a:tableStyleId>{5C22544A-7EE6-4342-B048-85BDC9FD1C3A}</a:tableStyleId>
              </a:tblPr>
              <a:tblGrid>
                <a:gridCol w="3291840"/>
                <a:gridCol w="4023360"/>
              </a:tblGrid>
              <a:tr h="329184">
                <a:tc>
                  <a:txBody>
                    <a:bodyPr/>
                    <a:lstStyle/>
                    <a:p>
                      <a:r>
                        <a:rPr sz="1100" b="1">
                          <a:solidFill>
                            <a:srgbClr val="FFFFFF"/>
                          </a:solidFill>
                          <a:latin typeface="Helvetica Neue"/>
                        </a:rPr>
                        <a:t>Step</a:t>
                      </a:r>
                    </a:p>
                  </a:txBody>
                  <a:tcPr>
                    <a:solidFill>
                      <a:srgbClr val="0B0B0B"/>
                    </a:solidFill>
                  </a:tcPr>
                </a:tc>
                <a:tc>
                  <a:txBody>
                    <a:bodyPr/>
                    <a:lstStyle/>
                    <a:p>
                      <a:r>
                        <a:rPr sz="1100" b="1">
                          <a:solidFill>
                            <a:srgbClr val="FFFFFF"/>
                          </a:solidFill>
                          <a:latin typeface="Helvetica Neue"/>
                        </a:rPr>
                        <a:t>What it produces</a:t>
                      </a:r>
                    </a:p>
                  </a:txBody>
                  <a:tcPr>
                    <a:solidFill>
                      <a:srgbClr val="0B0B0B"/>
                    </a:solidFill>
                  </a:tcPr>
                </a:tc>
              </a:tr>
              <a:tr h="329184">
                <a:tc>
                  <a:txBody>
                    <a:bodyPr/>
                    <a:lstStyle/>
                    <a:p>
                      <a:r>
                        <a:rPr sz="1100">
                          <a:solidFill>
                            <a:srgbClr val="0B0B0B"/>
                          </a:solidFill>
                          <a:latin typeface="Helvetica Neue"/>
                        </a:rPr>
                        <a:t>sql/01_revenue_monthly</a:t>
                      </a:r>
                    </a:p>
                  </a:txBody>
                  <a:tcPr>
                    <a:solidFill>
                      <a:srgbClr val="FFFFFF"/>
                    </a:solidFill>
                  </a:tcPr>
                </a:tc>
                <a:tc>
                  <a:txBody>
                    <a:bodyPr/>
                    <a:lstStyle/>
                    <a:p>
                      <a:r>
                        <a:rPr sz="1100">
                          <a:solidFill>
                            <a:srgbClr val="0B0B0B"/>
                          </a:solidFill>
                          <a:latin typeface="Helvetica Neue"/>
                        </a:rPr>
                        <a:t>Gross, L1 cost, net by month</a:t>
                      </a:r>
                    </a:p>
                  </a:txBody>
                  <a:tcPr>
                    <a:solidFill>
                      <a:srgbClr val="FFFFFF"/>
                    </a:solidFill>
                  </a:tcPr>
                </a:tc>
              </a:tr>
              <a:tr h="329184">
                <a:tc>
                  <a:txBody>
                    <a:bodyPr/>
                    <a:lstStyle/>
                    <a:p>
                      <a:r>
                        <a:rPr sz="1100">
                          <a:solidFill>
                            <a:srgbClr val="0B0B0B"/>
                          </a:solidFill>
                          <a:latin typeface="Helvetica Neue"/>
                        </a:rPr>
                        <a:t>sql/02_revenue_decomposition</a:t>
                      </a:r>
                    </a:p>
                  </a:txBody>
                  <a:tcPr>
                    <a:solidFill>
                      <a:srgbClr val="F3F2EF"/>
                    </a:solidFill>
                  </a:tcPr>
                </a:tc>
                <a:tc>
                  <a:txBody>
                    <a:bodyPr/>
                    <a:lstStyle/>
                    <a:p>
                      <a:r>
                        <a:rPr sz="1100">
                          <a:solidFill>
                            <a:srgbClr val="0B0B0B"/>
                          </a:solidFill>
                          <a:latin typeface="Helvetica Neue"/>
                        </a:rPr>
                        <a:t>LMDI: volume × gas/tx × price × ETH</a:t>
                      </a:r>
                    </a:p>
                  </a:txBody>
                  <a:tcPr>
                    <a:solidFill>
                      <a:srgbClr val="F3F2EF"/>
                    </a:solidFill>
                  </a:tcPr>
                </a:tc>
              </a:tr>
              <a:tr h="329184">
                <a:tc>
                  <a:txBody>
                    <a:bodyPr/>
                    <a:lstStyle/>
                    <a:p>
                      <a:r>
                        <a:rPr sz="1100">
                          <a:solidFill>
                            <a:srgbClr val="0B0B0B"/>
                          </a:solidFill>
                          <a:latin typeface="Helvetica Neue"/>
                        </a:rPr>
                        <a:t>sql/03_address_dim</a:t>
                      </a:r>
                    </a:p>
                  </a:txBody>
                  <a:tcPr>
                    <a:solidFill>
                      <a:srgbClr val="FFFFFF"/>
                    </a:solidFill>
                  </a:tcPr>
                </a:tc>
                <a:tc>
                  <a:txBody>
                    <a:bodyPr/>
                    <a:lstStyle/>
                    <a:p>
                      <a:r>
                        <a:rPr sz="1100">
                          <a:solidFill>
                            <a:srgbClr val="0B0B0B"/>
                          </a:solidFill>
                          <a:latin typeface="Helvetica Neue"/>
                        </a:rPr>
                        <a:t>Address → app + segment</a:t>
                      </a:r>
                    </a:p>
                  </a:txBody>
                  <a:tcPr>
                    <a:solidFill>
                      <a:srgbClr val="FFFFFF"/>
                    </a:solidFill>
                  </a:tcPr>
                </a:tc>
              </a:tr>
              <a:tr h="329184">
                <a:tc>
                  <a:txBody>
                    <a:bodyPr/>
                    <a:lstStyle/>
                    <a:p>
                      <a:r>
                        <a:rPr sz="1100">
                          <a:solidFill>
                            <a:srgbClr val="0B0B0B"/>
                          </a:solidFill>
                          <a:latin typeface="Helvetica Neue"/>
                        </a:rPr>
                        <a:t>sql/04_app_ranking</a:t>
                      </a:r>
                    </a:p>
                  </a:txBody>
                  <a:tcPr>
                    <a:solidFill>
                      <a:srgbClr val="F3F2EF"/>
                    </a:solidFill>
                  </a:tcPr>
                </a:tc>
                <a:tc>
                  <a:txBody>
                    <a:bodyPr/>
                    <a:lstStyle/>
                    <a:p>
                      <a:r>
                        <a:rPr sz="1100">
                          <a:solidFill>
                            <a:srgbClr val="0B0B0B"/>
                          </a:solidFill>
                          <a:latin typeface="Helvetica Neue"/>
                        </a:rPr>
                        <a:t>Customer ranking, concentration, spikiness</a:t>
                      </a:r>
                    </a:p>
                  </a:txBody>
                  <a:tcPr>
                    <a:solidFill>
                      <a:srgbClr val="F3F2EF"/>
                    </a:solidFill>
                  </a:tcPr>
                </a:tc>
              </a:tr>
              <a:tr h="329184">
                <a:tc>
                  <a:txBody>
                    <a:bodyPr/>
                    <a:lstStyle/>
                    <a:p>
                      <a:r>
                        <a:rPr sz="1100">
                          <a:solidFill>
                            <a:srgbClr val="0B0B0B"/>
                          </a:solidFill>
                          <a:latin typeface="Helvetica Neue"/>
                        </a:rPr>
                        <a:t>sql/05_segments_monthly</a:t>
                      </a:r>
                    </a:p>
                  </a:txBody>
                  <a:tcPr>
                    <a:solidFill>
                      <a:srgbClr val="FFFFFF"/>
                    </a:solidFill>
                  </a:tcPr>
                </a:tc>
                <a:tc>
                  <a:txBody>
                    <a:bodyPr/>
                    <a:lstStyle/>
                    <a:p>
                      <a:r>
                        <a:rPr sz="1100">
                          <a:solidFill>
                            <a:srgbClr val="0B0B0B"/>
                          </a:solidFill>
                          <a:latin typeface="Helvetica Neue"/>
                        </a:rPr>
                        <a:t>Fees by segment over time</a:t>
                      </a:r>
                    </a:p>
                  </a:txBody>
                  <a:tcPr>
                    <a:solidFill>
                      <a:srgbClr val="FFFFFF"/>
                    </a:solidFill>
                  </a:tcPr>
                </a:tc>
              </a:tr>
              <a:tr h="329184">
                <a:tc>
                  <a:txBody>
                    <a:bodyPr/>
                    <a:lstStyle/>
                    <a:p>
                      <a:r>
                        <a:rPr sz="1100">
                          <a:solidFill>
                            <a:srgbClr val="0B0B0B"/>
                          </a:solidFill>
                          <a:latin typeface="Helvetica Neue"/>
                        </a:rPr>
                        <a:t>sql/06_retention</a:t>
                      </a:r>
                    </a:p>
                  </a:txBody>
                  <a:tcPr>
                    <a:solidFill>
                      <a:srgbClr val="F3F2EF"/>
                    </a:solidFill>
                  </a:tcPr>
                </a:tc>
                <a:tc>
                  <a:txBody>
                    <a:bodyPr/>
                    <a:lstStyle/>
                    <a:p>
                      <a:r>
                        <a:rPr sz="1100">
                          <a:solidFill>
                            <a:srgbClr val="0B0B0B"/>
                          </a:solidFill>
                          <a:latin typeface="Helvetica Neue"/>
                        </a:rPr>
                        <a:t>3-month logo retention + NRR</a:t>
                      </a:r>
                    </a:p>
                  </a:txBody>
                  <a:tcPr>
                    <a:solidFill>
                      <a:srgbClr val="F3F2EF"/>
                    </a:solidFill>
                  </a:tcPr>
                </a:tc>
              </a:tr>
              <a:tr h="329184">
                <a:tc>
                  <a:txBody>
                    <a:bodyPr/>
                    <a:lstStyle/>
                    <a:p>
                      <a:r>
                        <a:rPr sz="1100">
                          <a:solidFill>
                            <a:srgbClr val="0B0B0B"/>
                          </a:solidFill>
                          <a:latin typeface="Helvetica Neue"/>
                        </a:rPr>
                        <a:t>sql/07_apps_vs_op</a:t>
                      </a:r>
                    </a:p>
                  </a:txBody>
                  <a:tcPr>
                    <a:solidFill>
                      <a:srgbClr val="FFFFFF"/>
                    </a:solidFill>
                  </a:tcPr>
                </a:tc>
                <a:tc>
                  <a:txBody>
                    <a:bodyPr/>
                    <a:lstStyle/>
                    <a:p>
                      <a:r>
                        <a:rPr sz="1100">
                          <a:solidFill>
                            <a:srgbClr val="0B0B0B"/>
                          </a:solidFill>
                          <a:latin typeface="Helvetica Neue"/>
                        </a:rPr>
                        <a:t>App fees vs gas paid to OP</a:t>
                      </a:r>
                    </a:p>
                  </a:txBody>
                  <a:tcPr>
                    <a:solidFill>
                      <a:srgbClr val="FFFFFF"/>
                    </a:solidFill>
                  </a:tcPr>
                </a:tc>
              </a:tr>
              <a:tr h="329184">
                <a:tc>
                  <a:txBody>
                    <a:bodyPr/>
                    <a:lstStyle/>
                    <a:p>
                      <a:r>
                        <a:rPr sz="1100">
                          <a:solidFill>
                            <a:srgbClr val="0B0B0B"/>
                          </a:solidFill>
                          <a:latin typeface="Helvetica Neue"/>
                        </a:rPr>
                        <a:t>sql/08_ecosystem_quarterly</a:t>
                      </a:r>
                    </a:p>
                  </a:txBody>
                  <a:tcPr>
                    <a:solidFill>
                      <a:srgbClr val="F3F2EF"/>
                    </a:solidFill>
                  </a:tcPr>
                </a:tc>
                <a:tc>
                  <a:txBody>
                    <a:bodyPr/>
                    <a:lstStyle/>
                    <a:p>
                      <a:r>
                        <a:rPr sz="1100">
                          <a:solidFill>
                            <a:srgbClr val="0B0B0B"/>
                          </a:solidFill>
                          <a:latin typeface="Helvetica Neue"/>
                        </a:rPr>
                        <a:t>Stablecoins, bridges, CEX, TVL, users</a:t>
                      </a:r>
                    </a:p>
                  </a:txBody>
                  <a:tcPr>
                    <a:solidFill>
                      <a:srgbClr val="F3F2EF"/>
                    </a:solidFill>
                  </a:tcPr>
                </a:tc>
              </a:tr>
              <a:tr h="329184">
                <a:tc>
                  <a:txBody>
                    <a:bodyPr/>
                    <a:lstStyle/>
                    <a:p>
                      <a:r>
                        <a:rPr sz="1100">
                          <a:solidFill>
                            <a:srgbClr val="0B0B0B"/>
                          </a:solidFill>
                          <a:latin typeface="Helvetica Neue"/>
                        </a:rPr>
                        <a:t>sql/09_fee_concentration_by_day</a:t>
                      </a:r>
                    </a:p>
                  </a:txBody>
                  <a:tcPr>
                    <a:solidFill>
                      <a:srgbClr val="FFFFFF"/>
                    </a:solidFill>
                  </a:tcPr>
                </a:tc>
                <a:tc>
                  <a:txBody>
                    <a:bodyPr/>
                    <a:lstStyle/>
                    <a:p>
                      <a:r>
                        <a:rPr sz="1100">
                          <a:solidFill>
                            <a:srgbClr val="0B0B0B"/>
                          </a:solidFill>
                          <a:latin typeface="Helvetica Neue"/>
                        </a:rPr>
                        <a:t>Revenue concentration by day</a:t>
                      </a:r>
                    </a:p>
                  </a:txBody>
                  <a:tcPr>
                    <a:solidFill>
                      <a:srgbClr val="FFFFFF"/>
                    </a:solidFill>
                  </a:tcPr>
                </a:tc>
              </a:tr>
              <a:tr h="329184">
                <a:tc>
                  <a:txBody>
                    <a:bodyPr/>
                    <a:lstStyle/>
                    <a:p>
                      <a:r>
                        <a:rPr sz="1100">
                          <a:solidFill>
                            <a:srgbClr val="0B0B0B"/>
                          </a:solidFill>
                          <a:latin typeface="Helvetica Neue"/>
                        </a:rPr>
                        <a:t>src/growth_model.py</a:t>
                      </a:r>
                    </a:p>
                  </a:txBody>
                  <a:tcPr>
                    <a:solidFill>
                      <a:srgbClr val="F3F2EF"/>
                    </a:solidFill>
                  </a:tcPr>
                </a:tc>
                <a:tc>
                  <a:txBody>
                    <a:bodyPr/>
                    <a:lstStyle/>
                    <a:p>
                      <a:r>
                        <a:rPr sz="1100">
                          <a:solidFill>
                            <a:srgbClr val="0B0B0B"/>
                          </a:solidFill>
                          <a:latin typeface="Helvetica Neue"/>
                        </a:rPr>
                        <a:t>Scenarios, tornado, floor sweep</a:t>
                      </a:r>
                    </a:p>
                  </a:txBody>
                  <a:tcPr>
                    <a:solidFill>
                      <a:srgbClr val="F3F2EF"/>
                    </a:solidFill>
                  </a:tcPr>
                </a:tc>
              </a:tr>
              <a:tr h="329184">
                <a:tc>
                  <a:txBody>
                    <a:bodyPr/>
                    <a:lstStyle/>
                    <a:p>
                      <a:r>
                        <a:rPr sz="1100">
                          <a:solidFill>
                            <a:srgbClr val="0B0B0B"/>
                          </a:solidFill>
                          <a:latin typeface="Helvetica Neue"/>
                        </a:rPr>
                        <a:t>src/checks.py</a:t>
                      </a:r>
                    </a:p>
                  </a:txBody>
                  <a:tcPr>
                    <a:solidFill>
                      <a:srgbClr val="FFFFFF"/>
                    </a:solidFill>
                  </a:tcPr>
                </a:tc>
                <a:tc>
                  <a:txBody>
                    <a:bodyPr/>
                    <a:lstStyle/>
                    <a:p>
                      <a:r>
                        <a:rPr sz="1100">
                          <a:solidFill>
                            <a:srgbClr val="0B0B0B"/>
                          </a:solidFill>
                          <a:latin typeface="Helvetica Neue"/>
                        </a:rPr>
                        <a:t>13 integrity checks (build fails on any FAIL)</a:t>
                      </a:r>
                    </a:p>
                  </a:txBody>
                  <a:tcPr>
                    <a:solidFill>
                      <a:srgbClr val="FFFFFF"/>
                    </a:solidFill>
                  </a:tcPr>
                </a:tc>
              </a:tr>
              <a:tr h="329184">
                <a:tc>
                  <a:txBody>
                    <a:bodyPr/>
                    <a:lstStyle/>
                    <a:p>
                      <a:r>
                        <a:rPr sz="1100">
                          <a:solidFill>
                            <a:srgbClr val="0B0B0B"/>
                          </a:solidFill>
                          <a:latin typeface="Helvetica Neue"/>
                        </a:rPr>
                        <a:t>run_all.sh</a:t>
                      </a:r>
                    </a:p>
                  </a:txBody>
                  <a:tcPr>
                    <a:solidFill>
                      <a:srgbClr val="F3F2EF"/>
                    </a:solidFill>
                  </a:tcPr>
                </a:tc>
                <a:tc>
                  <a:txBody>
                    <a:bodyPr/>
                    <a:lstStyle/>
                    <a:p>
                      <a:r>
                        <a:rPr sz="1100">
                          <a:solidFill>
                            <a:srgbClr val="0B0B0B"/>
                          </a:solidFill>
                          <a:latin typeface="Helvetica Neue"/>
                        </a:rPr>
                        <a:t>checks → SQL → model → charts → deck</a:t>
                      </a:r>
                    </a:p>
                  </a:txBody>
                  <a:tcPr>
                    <a:solidFill>
                      <a:srgbClr val="F3F2E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1440" y="6446520"/>
            <a:ext cx="457200" cy="274320"/>
          </a:xfrm>
          <a:prstGeom prst="rect">
            <a:avLst/>
          </a:prstGeom>
          <a:noFill/>
        </p:spPr>
        <p:txBody>
          <a:bodyPr wrap="square" anchor="t" lIns="0" rIns="0">
            <a:spAutoFit/>
          </a:bodyPr>
          <a:lstStyle/>
          <a:p>
            <a:pPr algn="r"/>
            <a:r>
              <a:rPr sz="1000" b="0">
                <a:solidFill>
                  <a:srgbClr val="8A8984"/>
                </a:solidFill>
                <a:latin typeface="Helvetica Neue"/>
              </a:rPr>
              <a:t>24</a:t>
            </a:r>
          </a:p>
        </p:txBody>
      </p:sp>
      <p:sp>
        <p:nvSpPr>
          <p:cNvPr id="3" name="TextBox 2"/>
          <p:cNvSpPr txBox="1"/>
          <p:nvPr/>
        </p:nvSpPr>
        <p:spPr>
          <a:xfrm>
            <a:off x="548640" y="6446520"/>
            <a:ext cx="5486400" cy="274320"/>
          </a:xfrm>
          <a:prstGeom prst="rect">
            <a:avLst/>
          </a:prstGeom>
          <a:noFill/>
        </p:spPr>
        <p:txBody>
          <a:bodyPr wrap="square" anchor="t" lIns="0" rIns="0">
            <a:spAutoFit/>
          </a:bodyPr>
          <a:lstStyle/>
          <a:p>
            <a:pPr algn="l"/>
            <a:r>
              <a:rPr sz="1000" b="0">
                <a:solidFill>
                  <a:srgbClr val="8A8984"/>
                </a:solidFill>
                <a:latin typeface="Helvetica Neue"/>
              </a:rPr>
              <a:t>OP Mainnet revenue · BI Lead case study</a:t>
            </a:r>
          </a:p>
        </p:txBody>
      </p:sp>
      <p:sp>
        <p:nvSpPr>
          <p:cNvPr id="4" name="TextBox 3"/>
          <p:cNvSpPr txBox="1"/>
          <p:nvPr/>
        </p:nvSpPr>
        <p:spPr>
          <a:xfrm>
            <a:off x="548640" y="320040"/>
            <a:ext cx="7315200" cy="274320"/>
          </a:xfrm>
          <a:prstGeom prst="rect">
            <a:avLst/>
          </a:prstGeom>
          <a:noFill/>
        </p:spPr>
        <p:txBody>
          <a:bodyPr wrap="square" anchor="t" lIns="0" rIns="0">
            <a:spAutoFit/>
          </a:bodyPr>
          <a:lstStyle/>
          <a:p>
            <a:pPr algn="l"/>
            <a:r>
              <a:rPr sz="1100" b="1">
                <a:solidFill>
                  <a:srgbClr val="FF0420"/>
                </a:solidFill>
                <a:latin typeface="Helvetica Neue"/>
              </a:rPr>
              <a:t>APPENDIX</a:t>
            </a:r>
          </a:p>
        </p:txBody>
      </p:sp>
      <p:sp>
        <p:nvSpPr>
          <p:cNvPr id="5" name="TextBox 4"/>
          <p:cNvSpPr txBox="1"/>
          <p:nvPr/>
        </p:nvSpPr>
        <p:spPr>
          <a:xfrm>
            <a:off x="548640" y="594360"/>
            <a:ext cx="11064240" cy="914400"/>
          </a:xfrm>
          <a:prstGeom prst="rect">
            <a:avLst/>
          </a:prstGeom>
          <a:noFill/>
        </p:spPr>
        <p:txBody>
          <a:bodyPr wrap="square" anchor="t" lIns="0" rIns="0">
            <a:spAutoFit/>
          </a:bodyPr>
          <a:lstStyle/>
          <a:p>
            <a:pPr algn="l"/>
            <a:r>
              <a:rPr sz="2800" b="1">
                <a:solidFill>
                  <a:srgbClr val="0B0B0B"/>
                </a:solidFill>
                <a:latin typeface="Helvetica Neue"/>
              </a:rPr>
              <a:t>Appendix C: public sources</a:t>
            </a:r>
          </a:p>
        </p:txBody>
      </p:sp>
      <p:sp>
        <p:nvSpPr>
          <p:cNvPr id="6" name="TextBox 5"/>
          <p:cNvSpPr txBox="1"/>
          <p:nvPr/>
        </p:nvSpPr>
        <p:spPr>
          <a:xfrm>
            <a:off x="548640" y="1554480"/>
            <a:ext cx="11064240" cy="4754880"/>
          </a:xfrm>
          <a:prstGeom prst="rect">
            <a:avLst/>
          </a:prstGeom>
          <a:noFill/>
        </p:spPr>
        <p:txBody>
          <a:bodyPr wrap="square" lIns="0" rIns="0">
            <a:spAutoFit/>
          </a:bodyPr>
          <a:lstStyle/>
          <a:p>
            <a:pPr>
              <a:spcAft>
                <a:spcPts val="800"/>
              </a:spcAft>
            </a:pPr>
            <a:r>
              <a:rPr sz="1300">
                <a:solidFill>
                  <a:srgbClr val="0B0B0B"/>
                </a:solidFill>
                <a:latin typeface="Helvetica Neue"/>
              </a:rPr>
              <a:t>▪  DefiLlama chain fees, OP Mainnet: api.llama.fi/summary/fees/op-mainnet?dataType=dailyFees | dailyRevenue (pulled 2026-10-12)</a:t>
            </a:r>
          </a:p>
          <a:p>
            <a:pPr>
              <a:spcAft>
                <a:spcPts val="800"/>
              </a:spcAft>
            </a:pPr>
            <a:r>
              <a:rPr sz="1300">
                <a:solidFill>
                  <a:srgbClr val="0B0B0B"/>
                </a:solidFill>
                <a:latin typeface="Helvetica Neue"/>
              </a:rPr>
              <a:t>▪  growthepie fundamentals (OP Mainnet costs_total_usd, fees_paid_usd): api.growthepie.com/v1/fundamentals.json (pulled 2026-10-12)</a:t>
            </a:r>
          </a:p>
          <a:p>
            <a:pPr>
              <a:spcAft>
                <a:spcPts val="800"/>
              </a:spcAft>
            </a:pPr>
            <a:r>
              <a:rPr sz="1300">
                <a:solidFill>
                  <a:srgbClr val="0B0B0B"/>
                </a:solidFill>
                <a:latin typeface="Helvetica Neue"/>
              </a:rPr>
              <a:t>▪  Jovian hardfork, configurable minimum base fee: docs.optimism.io/notices/upgrade-17 ; specs.optimism.io/protocol/jovian/exec-engine.html</a:t>
            </a:r>
          </a:p>
          <a:p>
            <a:pPr>
              <a:spcAft>
                <a:spcPts val="800"/>
              </a:spcAft>
            </a:pPr>
            <a:r>
              <a:rPr sz="1300">
                <a:solidFill>
                  <a:srgbClr val="0B0B0B"/>
                </a:solidFill>
                <a:latin typeface="Helvetica Neue"/>
              </a:rPr>
              <a:t>▪  Base leaving the Superchain (announced 2026-02-19), ether.fi moving ~70k cards to OP Mainnet, Collective buyback: dlnews.com/articles/defi/optimism-token-price-plunges-as-base-leaves-superchain/</a:t>
            </a:r>
          </a:p>
          <a:p>
            <a:pPr>
              <a:spcAft>
                <a:spcPts val="800"/>
              </a:spcAft>
            </a:pPr>
            <a:r>
              <a:rPr sz="1300">
                <a:solidFill>
                  <a:srgbClr val="0B0B0B"/>
                </a:solidFill>
                <a:latin typeface="Helvetica Neue"/>
              </a:rPr>
              <a:t>▪  Superchain revenue share (greater of 2.5% of revenue or 15% of profit): optimism.io/blog/how-(and-why)-the-superchain-drives-fees-to-the-optimism-collective</a:t>
            </a:r>
          </a:p>
          <a:p>
            <a:pPr>
              <a:spcAft>
                <a:spcPts val="800"/>
              </a:spcAft>
            </a:pPr>
            <a:r>
              <a:rPr sz="1300">
                <a:solidFill>
                  <a:srgbClr val="0B0B0B"/>
                </a:solidFill>
                <a:latin typeface="Helvetica Neue"/>
              </a:rPr>
              <a:t>▪  Optimism buyback (50% of Superchain revenue): cointelegraph.com/news/optimism-passes-buyback-proposal-to-bolster-op-token</a:t>
            </a:r>
          </a:p>
          <a:p>
            <a:pPr>
              <a:spcAft>
                <a:spcPts val="800"/>
              </a:spcAft>
            </a:pPr>
            <a:r>
              <a:rPr sz="1300">
                <a:solidFill>
                  <a:srgbClr val="0B0B0B"/>
                </a:solidFill>
                <a:latin typeface="Helvetica Neue"/>
              </a:rPr>
              <a:t>▪  Base min base fee / gas configuration change (Dec 2025): reported by Base network notices; used only as a competitive reference point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