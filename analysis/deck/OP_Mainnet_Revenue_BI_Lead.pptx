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0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400" b="1">
                <a:solidFill>
                  <a:srgbClr val="0B0B0B"/>
                </a:solidFill>
                <a:latin typeface="Helvetica Neue"/>
              </a:rPr>
              <a:t>OP Mainnet: Who Makes Money, What We Keep, How to Grow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52514E"/>
                </a:solidFill>
                <a:latin typeface="Helvetica Neue"/>
              </a:rPr>
              <a:t>Sequencer revenue review for the last 12 months (Sep 16 2025 to Sep 15 2026) and a 12-month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0584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0B0B0B"/>
                </a:solidFill>
                <a:latin typeface="Helvetica Neue"/>
              </a:rPr>
              <a:t>Apps make the money. OP kept $1.22M, mostly from bots, as blockspace prices fell 76%. A staged fee floor, L1 fix and payments lift next year to $1.19M, not $0.90M.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8A8984"/>
                </a:solidFill>
                <a:latin typeface="Helvetica Neue"/>
              </a:rPr>
              <a:t>Business Intelligence Lead take-home · data through 2026-09-15 · code &amp; SQL in the accompanying git 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Helvetica Neue"/>
              </a:rPr>
              <a:t>Apps make the money; OP keeps ~$1.2M, mostly from bots. Pricing blockspace grows our take.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651760" cy="141732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Helvetica Neue"/>
              </a:rPr>
              <a:t>Net sequencer revenue, last 12m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0420"/>
                </a:solidFill>
                <a:latin typeface="Helvetica Neue"/>
              </a:rPr>
              <a:t>$1.22M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Helvetica Neue"/>
              </a:rPr>
              <a:t>97% margin after L1 costs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645920"/>
            <a:ext cx="2651760" cy="141732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73736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Helvetica Neue"/>
              </a:rPr>
              <a:t>Fees apps earned, last 12m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05740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0420"/>
                </a:solidFill>
                <a:latin typeface="Helvetica Neue"/>
              </a:rPr>
              <a:t>$41M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65176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Helvetica Neue"/>
              </a:rPr>
              <a:t>≈33× OP's gross take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645920"/>
            <a:ext cx="2651760" cy="141732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73736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Helvetica Neue"/>
              </a:rPr>
              <a:t>Share of fees paid by bots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05740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0420"/>
                </a:solidFill>
                <a:latin typeface="Helvetica Neue"/>
              </a:rPr>
              <a:t>66%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65176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Helvetica Neue"/>
              </a:rPr>
              <a:t>87% of transactions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7696" y="1645920"/>
            <a:ext cx="2651760" cy="141732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73736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Helvetica Neue"/>
              </a:rPr>
              <a:t>Next 12m, Base case with levers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05740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0420"/>
                </a:solidFill>
                <a:latin typeface="Helvetica Neue"/>
              </a:rPr>
              <a:t>$1.19M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65176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Helvetica Neue"/>
              </a:rPr>
              <a:t>vs $0.90M with no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Helvetica Neue"/>
              </a:rPr>
              <a:t>Finding &amp;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557784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B0B0B"/>
                </a:solidFill>
                <a:latin typeface="Helvetica Neue"/>
              </a:rPr>
              <a:t>▪  OP's take is small and shrinking because the price of blockspace (the transaction capacity OP sells) collapsed, not the volume. OP kept $1.216M net in the last 12 months, while apps on OP Mainnet collected $41.3M in fees.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0B0B"/>
                </a:solidFill>
                <a:latin typeface="Helvetica Neue"/>
              </a:rPr>
              <a:t>▪  Gross fees per day fell 70% ($11.6k to $3.4k) while transactions per day rose 71%. The price per unit of gas (compute) fell 76%.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0B0B"/>
                </a:solidFill>
                <a:latin typeface="Helvetica Neue"/>
              </a:rPr>
              <a:t>▪  Bots pay about two-thirds of fees (57% unnamed automated contracts plus 9% labelled MEV bots). Named apps pay 18%. The top 10 customers pay 50%.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B0B0B"/>
                </a:solidFill>
                <a:latin typeface="Helvetica Neue"/>
              </a:rPr>
              <a:t>▪  Revenue is event-driven. The Oct 10 2025 crash day alone earned $250k, 20% of the year, and the 10 busiest days earned 32%.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46120"/>
            <a:ext cx="52120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Helvetica Neue"/>
              </a:rPr>
              <a:t>So 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66160"/>
            <a:ext cx="521208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Helvetica Neue"/>
              </a:rPr>
              <a:t>With no action, net revenue for the next 12 months falls to $0.90M (-26%). Demand barely responded when blockspace got cheaper (+0.38% transactions per 1% price drop), so we should work on price, not volume.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52120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F0420"/>
                </a:solidFill>
                <a:latin typeface="Helvetica Neue"/>
              </a:rPr>
              <a:t>Recommended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20"/>
            <a:ext cx="521208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Helvetica Neue"/>
              </a:rPr>
              <a:t>Phase in a minimum base fee toward 2.5 mwei/gas, re-tune the L1 data fee scalars, sign payments issuers and pursue chains as OP Enterprise customers. Base case: $1.19M, +32% versus no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We define our share as user fees minus Ethereum posting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66928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B0B0B"/>
                </a:solidFill>
                <a:latin typeface="Helvetica Neue"/>
              </a:rPr>
              <a:t>▪  Our share = sequencer revenue: fees paid to OP's block producer (the sequencer), minus the L1 data cost of posting to Ethereum.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B0B0B"/>
                </a:solidFill>
                <a:latin typeface="Helvetica Neue"/>
              </a:rPr>
              <a:t>▪  Window: the last 12 months (Sep 16 2025 to Sep 15 2026) against the prior 258 days, compared per day.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B0B0B"/>
                </a:solidFill>
                <a:latin typeface="Helvetica Neue"/>
              </a:rPr>
              <a:t>▪  Fee change split into four drivers: transactions, gas (compute units) per transaction, price per unit of gas, and ETH/USD.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B0B0B"/>
                </a:solidFill>
                <a:latin typeface="Helvetica Neue"/>
              </a:rPr>
              <a:t>▪  Fees assigned to the contract each transaction calls: 724 paying customers, grouped into apps, bots and the long tail.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45920"/>
            <a:ext cx="5029200" cy="448056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8308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Helvetica Neue"/>
              </a:rPr>
              <a:t>Data checks run on every build: 13/13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94560"/>
            <a:ext cx="466344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0B0B0B"/>
                </a:solidFill>
                <a:latin typeface="Helvetica Neue"/>
              </a:rPr>
              <a:t>▪  06 fees reconcile to 01 (max daily deviation): 0.01215%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B0B0B"/>
                </a:solidFill>
                <a:latin typeface="Helvetica Neue"/>
              </a:rPr>
              <a:t>▪  06 txs reconcile to 01 (max daily deviation): 0.00000%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B0B0B"/>
                </a:solidFill>
                <a:latin typeface="Helvetica Neue"/>
              </a:rPr>
              <a:t>▪  01 USD = ETH x price: 0.000000%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B0B0B"/>
                </a:solidFill>
                <a:latin typeface="Helvetica Neue"/>
              </a:rPr>
              <a:t>▪  01 price matches 02: 0.000000%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B0B0B"/>
                </a:solidFill>
                <a:latin typeface="Helvetica Neue"/>
              </a:rPr>
              <a:t>▪  01 execution + L1 data = total (ETH): 3.55e-15 ETH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B0B0B"/>
                </a:solidFill>
                <a:latin typeface="Helvetica Neue"/>
              </a:rPr>
              <a:t>▪  06 unique (date, to_address): 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B0B0B"/>
                </a:solidFill>
                <a:latin typeface="Helvetica Neue"/>
              </a:rPr>
              <a:t>▪  01 one row per day, no gaps: 623 days 2025-01-01..2026-09-15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B0B0B"/>
                </a:solidFill>
                <a:latin typeface="Helvetica Neue"/>
              </a:rPr>
              <a:t>▪  last-12-month window = 365 days: 365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B0B0B"/>
                </a:solidFill>
                <a:latin typeface="Helvetica Neue"/>
              </a:rPr>
              <a:t>▪  07 labels: one row per tracked address: 1082 labels / 1082 addresses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1 · DIAGNOSE THE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We kept $1.22M net last year; the run-rate is now $49.7k/month.</a:t>
            </a:r>
          </a:p>
        </p:txBody>
      </p:sp>
      <p:pic>
        <p:nvPicPr>
          <p:cNvPr id="6" name="Picture 5" descr="01_revenue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80960" cy="40214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1600200"/>
            <a:ext cx="3200400" cy="457200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Last-12-month gross user fees were $1.256M (430 ETH). L1 cost was $40k, so net sequencer revenue was $1.216M, a 96.8% margin.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Gross fees per day fell 70%, from $11.6k in the prior period to $3.4k.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Jun to Aug 2026 averaged $50.5k/month gross, against $680k in Jan 2025 alone.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The margin holds on either cost source: L1 cost is 5.6% of gross (growthepie) or 2.1% (DefiLlama). Net stays at about 95-97%.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1 · DIAGNOSE THE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Volume grew, but blockspace prices collapsed 76% and drove the decline.</a:t>
            </a:r>
          </a:p>
        </p:txBody>
      </p:sp>
      <p:pic>
        <p:nvPicPr>
          <p:cNvPr id="6" name="Picture 5" descr="03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80960" cy="41377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1600200"/>
            <a:ext cx="3200400" cy="457200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Transactions per day rose 71% (1.03M to 1.76M), adding $3.6k/day of fees.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Gas (compute units) per transaction fell 35%, removing $2.9k/day.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The price paid per unit of gas fell 76%, removing $9.5k/day: the main driver of the -$8.2k/day change.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Daily active addresses fell from ~81k to ~21k while transactions doubled, so the volume is automated.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1 · DIAGNOSE THE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Revenue is event-driven: one crash day earned 20% of the year.</a:t>
            </a:r>
          </a:p>
        </p:txBody>
      </p:sp>
      <p:pic>
        <p:nvPicPr>
          <p:cNvPr id="6" name="Picture 5" descr="04_daily_spi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80960" cy="35552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1600200"/>
            <a:ext cx="3200400" cy="457200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The Oct 10 2025 market crash earned $250k, at 73x the median day's price of 1.28 mwei/gas.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The 10 busiest days delivered 32% of last-12-month fees.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About 40% of fees (173 of 430 ETH) was a congestion premium paid above the median price.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Budget off the base load and treat spikes as upside we cannot schedule.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1 · WHO IS MAKING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Apps collected $41.3M in fees; OP's gross take was $1.26M.</a:t>
            </a:r>
          </a:p>
        </p:txBody>
      </p:sp>
      <p:pic>
        <p:nvPicPr>
          <p:cNvPr id="6" name="Picture 5" descr="07_apps_vs_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80960" cy="43429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1600200"/>
            <a:ext cx="3200400" cy="457200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Apps on OP Mainnet earned $41.3M in fees and kept $17.4M as revenue (DefiLlama).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OP's gross take of $1.26M is about 3% of what apps collect.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ether.fi earned $18.5M in app fees and $7.1M revenue, but its contracts paid OP only $10k in gas.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Uniswap $3.75M fees / $27k gas; Velodrome $3.36M / $7.6k; Chainlink $3.0M / $21k; Aave $2.1M / $0.6k.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2 · IDENTIFY THE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Bots pay about two-thirds of our revenue; named apps pay 18%.</a:t>
            </a:r>
          </a:p>
        </p:txBody>
      </p:sp>
      <p:pic>
        <p:nvPicPr>
          <p:cNvPr id="6" name="Picture 5" descr="05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8859562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Unnamed automated contracts (bots) pay 57% of fees and send 86% of transactions.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Labelled MEV bots, which profit from the order of trades, pay 9% of fees with 1% of transactions.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Named apps and infrastructure pay 18% of fees with 8% of transactions.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The long tail of small contracts pays 11%; unnamed multi-user contracts pay 5%.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2 · IDENTIFY THE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Revenue is concentrated: ten customers pay half, and seven are bots.</a:t>
            </a:r>
          </a:p>
        </p:txBody>
      </p:sp>
      <p:pic>
        <p:nvPicPr>
          <p:cNvPr id="6" name="Picture 5" descr="06_top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80960" cy="347506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1600200"/>
            <a:ext cx="3200400" cy="457200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Of 724 paying customers, the top 10 pay 50% of fees and the top 50 pay 81%.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Seven of the top 10 are bots or MEV searchers, not named consumer apps.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The HHI concentration index is 443, low overall, but key-account exposure at the top is real.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Some searchers pay up to $350 per transaction on spike days through priority-fee auctions.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2 · IDENTIFY THE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Paying customers churn fast: only ~53% still pay three months later.</a:t>
            </a:r>
          </a:p>
        </p:txBody>
      </p:sp>
      <p:pic>
        <p:nvPicPr>
          <p:cNvPr id="6" name="Picture 5" descr="12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80960" cy="35432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1600200"/>
            <a:ext cx="3200400" cy="457200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Of addresses paying at least $10/month, only ~53% are still paying three months later.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Three-month net revenue retention averages 43%, so a cohort's spend shrinks by more than half.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The revenue base turns over constantly. Growth needs a steady pipeline of new flow, not just existing payers.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2 · OTHER CUSTOMER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Payments flow is the growth signal; most other ecosystem metrics shrank.</a:t>
            </a:r>
          </a:p>
        </p:txBody>
      </p:sp>
      <p:pic>
        <p:nvPicPr>
          <p:cNvPr id="6" name="Picture 5" descr="08_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64240" cy="3120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Adjusted stablecoin transfer volume rose 67%, from $1.08B to $1.81B per quarter (Q3 2025 to Q3 2026).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But stablecoin supply fell: native from $279M to $208M, bridged from $382M to $268M.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Bridges now bring in more than they send out ($1.08B in versus $0.71B out per quarter).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Base left the Superchain revenue share in Feb 2026. It had been ~90% of Collective inflows in Jan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3 ·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Helvetica Neue"/>
              </a:rPr>
              <a:t>Price blockspace with a staged minimum base fee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The 76% fall in blockspace price drove the decline, and demand barely responded to cheaper prices.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146304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84708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Price effect -$9.5k/day. Observed elasticity: 0.38% more transactions and 0.08% more gas per 1% price drop. Median price 1.28 mwei/gas.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Business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A floor recovers price on base-load blockspace, mostly paid by bots, at negligible cost to users ($0.0014 per typical transaction).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292608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01752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FF0420"/>
                </a:solidFill>
                <a:latin typeface="Helvetica Neue"/>
              </a:rPr>
              <a:t>Recommended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31012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Check the current minBaseFee setting, then raise the floor 1.5 -&gt; 2.0 -&gt; 2.5 mwei/gas. Each step goes ahead only if guardrails 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4805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Product-Protocol (accountable), with Data monitoring and Finance signing off each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9377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Month 1: verify the setting and the governance path. Month 2: 1.5 mwei. Month 4: 2.0 mwei. Month 6: 2.5 mwei, then hold and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949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+$215k a year at 2.5 mwei in the base case. The floor range 1.5-4.0 mwei gives a total of $0.98M-$1.44M.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521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Net revenue per day versus the no-action line ($0.90M/yr pace) · Bot gas decline no worse than the modelled -31% at 2.5 mwei · User gas decline no worse than the modelled -6% · Typical user transaction cost around $0.0014 at 2.5 mwei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3 ·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Helvetica Neue"/>
              </a:rPr>
              <a:t>Fix L1 fee hygiene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Since Oct 2025, users have paid less L1 data fee than OP's actual Ethereum posting cost, because the fee scalars are stale.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146304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84708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The data leg runs at about -$20k/yr. L1 cost is $40k against $20k of L1 data fee collected in the last 12 months.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Business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We subsidise Ethereum posting costs for free. It is small, but it is a pure leak that is easy to fix.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292608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01752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FF0420"/>
                </a:solidFill>
                <a:latin typeface="Helvetica Neue"/>
              </a:rPr>
              <a:t>Recommended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31012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Re-tune the L1 data fee scalars so the data leg breaks even. Reconcile the L1 cost source (2.1% DefiLlama vs 5.6% growthepie) with an on-chain batcher rebuild.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4805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Product-Protocol (scalars) and Data (cost reconciliation)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9377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Months 1-2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949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+$20k a year in the base case.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521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L1 data fee collected minus L1 cost &gt;= 0 each month · L1 cost ratio reconciled to one agreed source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3 ·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Helvetica Neue"/>
              </a:rPr>
              <a:t>Grow payments and stablecoin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Stablecoin payments are the one clear growth line, and payments apps create far more value than they pay 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146304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84708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Adjusted stablecoin transfer volume +67% to $1.81B/qtr. ether.fi: $18.5M app fees against $10k of gas paid to 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Business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Each issuer adds little direct fee revenue but brings recurring, non-bot flow, plus deposits and stablecoin balances that strengthen the ecosystem.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292608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01752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FF0420"/>
                </a:solidFill>
                <a:latin typeface="Helvetica Neue"/>
              </a:rPr>
              <a:t>Recommended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31012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Target 2 more card or payments issuers of ether.fi's scale, with co-marketing and launch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4805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Business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9377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Pipeline by month 3, first signing by month 6, both live by month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949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+$51k a year of direct sequencer revenue in the base case (0-4 wins: $1.14M-$1.24M total). The main value is ecosystem fees, stablecoin volume and TVL.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521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Issuers signed (target: 2) · Adjusted stablecoin transfer volume above $1.81B/qtr · Native stablecoin supply recovering from $208M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3 ·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Helvetica Neue"/>
              </a:rPr>
              <a:t>Sell to chains as customers (OP Enterprise)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Base's exit from the Superchain revenue share removed the largest source of Collective inflows.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146304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84708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Base announced its exit on 2026-02-19. It had been ~90% of Collective inflows in Jan 2026.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Helvetica Neue"/>
              </a:rPr>
              <a:t>Business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OP needs paying chain customers to replace that inflow, on top of OP Mainnet's own margin.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2926080"/>
            <a:ext cx="5440680" cy="1353312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017520"/>
            <a:ext cx="5029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FF0420"/>
                </a:solidFill>
                <a:latin typeface="Helvetica Neue"/>
              </a:rPr>
              <a:t>Recommended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310128"/>
            <a:ext cx="5074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Helvetica Neue"/>
              </a:rPr>
              <a:t>Package OP Enterprise (OP Stack plus services for chains) with clear pricing, and build a pipeline of target chains.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4805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Business Development (pipeline) and Finance (pricing and contract terms)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9377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Offer and pricing by month 3, pipeline review by month 6, first contracts by month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949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Not modelled. This is upside outside the $1.19M base case and should be sized once pricing is 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Helvetica Neue"/>
              </a:rP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52160"/>
            <a:ext cx="94183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0B0B0B"/>
                </a:solidFill>
                <a:latin typeface="Helvetica Neue"/>
              </a:rPr>
              <a:t>Chains in qualified pipeline · Signed chain contracts · Contracted annual revenue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3 ·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Doing nothing yields $0.90M; three levers lift next year to $1.19M.</a:t>
            </a:r>
          </a:p>
        </p:txBody>
      </p:sp>
      <p:pic>
        <p:nvPicPr>
          <p:cNvPr id="6" name="Picture 5" descr="09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80960" cy="37128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58200" y="1600200"/>
            <a:ext cx="3200400" cy="457200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No action: $0.90M net (-26% vs last 12 months), with ETH at $2,388, no crash like Oct 10, flat gas.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Lever A, a 2.5 mwei/gas fee floor: +$215k. Lever B, payments BD: +$51k. Lever C, L1 fee fix: +$20k.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Base case with levers: $1.19M, +32% versus no action and about flat versus the last 12 months.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Helvetica Neue"/>
              </a:rPr>
              <a:t>▪  Range: Bear case $0.40M, Bull case $3.09M (Bull assumes a 4.0 mwei floor).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3 ·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ETH price drives the range most; bot reaction is the biggest controllable unknown.</a:t>
            </a:r>
          </a:p>
        </p:txBody>
      </p:sp>
      <p:pic>
        <p:nvPicPr>
          <p:cNvPr id="6" name="Picture 5" descr="10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64240" cy="34747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ETH price at -40% or +40% gives $0.72M to $1.66M around the $1.19M base case.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A 1.5 to 4.0 mwei floor gives $0.98M to $1.44M. Bot elasticity of -1.2 to -0.3 gives $0.98M to $1.33M.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Organic gas at -20% or +20% gives $1.02M to $1.36M. A congestion premium of 0.25x to 1.0x gives $1.02M to $1.32M.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Payments wins of 0 to 4 give $1.14M to $1.24M. The L1 cost source gives $1.16M to $1.19M.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3 ·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A higher fee floor earns more but risks pushing flow to Base.</a:t>
            </a:r>
          </a:p>
        </p:txBody>
      </p:sp>
      <p:pic>
        <p:nvPicPr>
          <p:cNvPr id="6" name="Picture 5" descr="11_floor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0099875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Fee floor alone: 1.5 mwei $0.93M, 2.0 $1.03M, 2.5 $1.12M, 3.0 $1.20M, 4.0 $1.34M, 5.0 $1.47M.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At 2.5 mwei a typical user transaction costs $0.0014. Modelled user gas falls 6% and bot gas falls 31%.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Base, our closest competitor, sets its minimum base fee at 0.5 mwei. If the gap gets too wide, flow may move.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We recommend 2.5 mwei, about 1.8x today's 90-day median of 1.36, reached in stages.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3 ·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Every assumption is explicit, and the observed data anchors the key ones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69494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097280"/>
                <a:gridCol w="1097280"/>
                <a:gridCol w="118872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Assumption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Bear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Base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Bull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ETH price (avg, 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$1,433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$2,388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$3,343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Organic gas change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-20%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+0%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+20%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Congestion premium vs last 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0.25×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0.67×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1.00×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L1 cost, % of gross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5.6%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3.2%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3.2%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Lever A: minimum base fee (mwei/gas)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Lever A: bot price elasticity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-1.0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-0.6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-0.4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Lever A: user price elasticity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-0.2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-0.1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-0.05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Lever B: ether.fi-scale payment wins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Lever B: induced-activity multiple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Lever C: re-tune L1 data-fee scalars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→ Net revenue, no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$0.36M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$0.90M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$1.63M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→ Net revenue, with levers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$0.40M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$1.19M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$3.09M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63840" y="1554480"/>
            <a:ext cx="3749039" cy="457200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38328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Helvetica Neue"/>
              </a:rPr>
              <a:t>▪  Elasticities: when blockspace got 76% cheaper, txs rose only 0.38% and gas 0.08% per 1% price cut. A bot elasticity of −0.6 is conservative.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Helvetica Neue"/>
              </a:rPr>
              <a:t>▪  Congestion premium: last 12m excluding the Oct-10 crash day = 0.67× of the full year.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Helvetica Neue"/>
              </a:rPr>
              <a:t>▪  Base-load price: 90-day median 1.36 mwei per gas; ETH $2,388 (30-day average).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Helvetica Neue"/>
              </a:rPr>
              <a:t>▪  L1 cost: DefiLlama 3.2% of gross; growthepie 5.6% (Bear).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Helvetica Neue"/>
              </a:rPr>
              <a:t>▪  Lever B uses ether.fi's observed 90-day gas run-rate on OP Mainnet.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3 · MEASURING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How we'll know it's working: one north-star metric, four drivers, three guardrails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301752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Target / guardrail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Owner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Net sequencer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Gross user fees minus L1 data cost (Ethereum posting)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Target $1.19M for the next 12 months. Guardrail: stay above the $0.90M no-action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Effective blockspace price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Median ETH paid per unit of gas, in mwei/gas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From a 90-day median of 1.36 to a 2.5 mwei floor, in stages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Product-Protocol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Base-load gas by segment (bots vs users)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Gas used per day, excluding spike days, split by customer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Bot gas no worse than -31%, user gas no worse than -6% at 2.5 mwei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Typical user transaction cost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USD cost of a 234k-gas user transaction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Around $0.0014 at 2.5 mwei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Product-Protocol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Congestion premium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Share of fees paid above the median price on volatile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Track separately. Base case assumes 0.67x last year; last year it was ~40% of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L1 data leg balance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L1 data fees collected minus OP's Ethereum posting cost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At or above break-even, from about -$20k/yr today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Product-Protocol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Paying-customer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Share of $10+/month payers still paying after 3 months, and their net revenue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Improve on the ~53% (customers) and 43% (revenue)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Business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Payments flow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Adjusted stablecoin transfer volume per quarter, plus native stablecoin supply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Above $1.81B/qtr volume; supply recovering from $208M; 2 issuers signed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Business Development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Competitive price gap and flow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OP's minimum base fee versus Base's 0.5 mwei, and the share of top bots still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Pause the next floor stage if top-payer activity drops beyond the modelled bot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3 · RISKS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What could go wrong, and what happens in the first 90 days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6400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Risk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Mitigation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Bots react more strongly to a floor than assumed. Bot elasticity is the biggest unknown.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Stage the rollout 1.5 -&gt; 2.0 -&gt; 2.5 mwei and measure at each step. Even at -1.2 the base case is $0.98M, above the $0.90M no-action 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Flow moves to Base, Arbitrum or other chains. Base's floor is 0.5 mwei.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Track top-payer activity weekly. Pause or roll back a stage if the bot response exceeds the modelled -31%.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ETH price swings dominate the result: -40%/+40% gives $0.72M-$1.66M.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Finance plans in both ETH and USD and reports the levers' effect separately from ETH moves.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Spike dependence: one day (Oct 10 2025) was 20% of the year, and a calm year undershoots.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Budget on base load. The base case already assumes no crash on that scale (0.67x last year's congestion premium).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Concentration: the top 10 customers pay 50%, and 7 of them are bots.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Monitor the top payers individually as key accounts, and diversify through payments and OP Enterprise.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Measurement gaps: bot labels are heuristic (~340 of 1,082 addresses labelled), the L1 cost source is uncertain, and the current minBaseFee is unverified.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B0B0B"/>
                          </a:solidFill>
                          <a:latin typeface="Helvetica Neue"/>
                        </a:rPr>
                        <a:t>Data checks the on-chain configuration, rebuilds L1 cost from batcher transactions and improves address labels before stage one.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78040" y="1463040"/>
            <a:ext cx="4434840" cy="155448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536192"/>
            <a:ext cx="42062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FF0420"/>
                </a:solidFill>
                <a:latin typeface="Helvetica Neue"/>
              </a:rPr>
              <a:t>By day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92224"/>
            <a:ext cx="42062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0B0B0B"/>
                </a:solidFill>
                <a:latin typeface="Helvetica Neue"/>
              </a:rPr>
              <a:t>▪  Product-Protocol: verify OP Mainnet's current minBaseFee and the governance path for changing it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B0B0B"/>
                </a:solidFill>
                <a:latin typeface="Helvetica Neue"/>
              </a:rPr>
              <a:t>▪  Product-Protocol: re-tune the L1 data fee scalars to break even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B0B0B"/>
                </a:solidFill>
                <a:latin typeface="Helvetica Neue"/>
              </a:rPr>
              <a:t>▪  Data: build the KPI dashboard (price, base-load gas by segment, top-payer activity, L1 data leg)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B0B0B"/>
                </a:solidFill>
                <a:latin typeface="Helvetica Neue"/>
              </a:rPr>
              <a:t>▪  Finance: re-base the 12-month budget to the $0.90M no-action line and the $1.19M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3090672"/>
            <a:ext cx="4434840" cy="155448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163824"/>
            <a:ext cx="42062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FF0420"/>
                </a:solidFill>
                <a:latin typeface="Helvetica Neue"/>
              </a:rPr>
              <a:t>By day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419856"/>
            <a:ext cx="42062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0B0B0B"/>
                </a:solidFill>
                <a:latin typeface="Helvetica Neue"/>
              </a:rPr>
              <a:t>▪  Product-Protocol: ship floor stage one at 1.5 mwei/gas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B0B0B"/>
                </a:solidFill>
                <a:latin typeface="Helvetica Neue"/>
              </a:rPr>
              <a:t>▪  Data: measure the bot and user response against the modelled elasticities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B0B0B"/>
                </a:solidFill>
                <a:latin typeface="Helvetica Neue"/>
              </a:rPr>
              <a:t>▪  BD: build a target list of payments issuers and an OP Enterprise offer with pricing (with Finance)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4718304"/>
            <a:ext cx="4434840" cy="155448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4791456"/>
            <a:ext cx="42062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FF0420"/>
                </a:solidFill>
                <a:latin typeface="Helvetica Neue"/>
              </a:rPr>
              <a:t>By day 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047488"/>
            <a:ext cx="42062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0B0B0B"/>
                </a:solidFill>
                <a:latin typeface="Helvetica Neue"/>
              </a:rPr>
              <a:t>▪  Leadership: go/no-go on 2.0 mwei based on the stage-one guardrails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B0B0B"/>
                </a:solidFill>
                <a:latin typeface="Helvetica Neue"/>
              </a:rPr>
              <a:t>▪  BD: have the first issuer and chain conversations in qualified pipeline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0B0B0B"/>
                </a:solidFill>
                <a:latin typeface="Helvetica Neue"/>
              </a:rPr>
              <a:t>▪  Finance and Data: re-forecast with the measured elasticity and replace the assumed -0.6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Appendix A: definitions, data sources and how AI was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Our share = sequencer revenue = user fees on OP Mainnet (execution + L1 data fee, file 01) − what OP pays Ethereum to post data.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L1 cost is not in the files provided. Primary source: DefiLlama op-mainnet (fees − revenue), daily; its last-12m gross differs from file 01 by -3.37%. Cross-check: growthepie (last ~90 days). An on-chain rebuild via Blockscout was coded (external/fetch_l1_costs.py) but rate-limited.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Customers: fees are assigned to the destination contract (file 06). Contracts are grouped into apps by label precedence: Allium entity → Dune namespace → display name → Dune owner. Bot = no name AND (≤5 senders/day OR ≥50 txs per sender-day).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App earnings: DefiLlama fees/revenue (file 08), mapped to the same app names. Gas paid by apps is a floor (small contracts sit in 'other').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Window: last 12 months = 2025-09-16 → 2026-09-15 (365 days); the prior period is compared per day because data starts 2025-01-01.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AI use: Claude Code wrote the SQL/Python and ran it. Every number is produced by code, never typed in. Checks: 13 automated integrity tests (06 reconciles to 01 within 0.012%/day), cross-source L1/gross checks, and a manual read of every chart. A performance-optimizer agent had to prove its changes were output-identical, and a business-translation agent drafted copy that was checked figure-by-figure against the outputs (src/verify_copy.py).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Appendix B: reproducible pipeline (one command rebuilds every number and this deck)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73152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02336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Step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What it produces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sql/01_revenue_monthly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Gross, L1 cost, net by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sql/02_revenue_decomposition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LMDI: volume × gas/tx × price × ETH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sql/03_address_dim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Address → app +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sql/04_app_ranking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Customer ranking, concentration, spikiness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sql/05_segments_monthly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Fees by segment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sql/06_retention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3-month logo retention + NRR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sql/07_apps_vs_op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App fees vs gas paid to 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sql/08_ecosystem_quarterly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Stablecoins, bridges, CEX, TVL, users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sql/09_fee_concentration_by_day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Revenue concentration by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src/growth_model.py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Scenarios, tornado, floor sweep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src/checks.py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13 integrity checks (build fails on any FAIL)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run_all.sh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  <a:latin typeface="Helvetica Neue"/>
                        </a:rPr>
                        <a:t>checks → SQL → model → charts → deck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Helvetica Neue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8A8984"/>
                </a:solidFill>
                <a:latin typeface="Helvetica Neue"/>
              </a:rPr>
              <a:t>OP Mainnet revenue · BI Lead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FF0420"/>
                </a:solidFill>
                <a:latin typeface="Helvetica Neue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Helvetica Neue"/>
              </a:rPr>
              <a:t>Appendix C: public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DefiLlama chain fees, OP Mainnet: api.llama.fi/summary/fees/op-mainnet?dataType=dailyFees | dailyRevenue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growthepie fundamentals (OP Mainnet costs_total_usd, fees_paid_usd): api.growthepie.com/v1/fundamentals.json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Jovian hardfork, configurable minimum base fee: docs.optimism.io/notices/upgrade-17 ; specs.optimism.io/protocol/jovian/exec-engine.html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Base leaving the Superchain (announced 2026-02-19), ether.fi moving ~70k cards to OP Mainnet, Collective buyback: dlnews.com/articles/defi/optimism-token-price-plunges-as-base-leaves-superchain/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Superchain revenue share (greater of 2.5% of revenue or 15% of profit): optimism.io/blog/how-(and-why)-the-superchain-drives-fees-to-the-optimism-collective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Optimism buyback (50% of Superchain revenue): cointelegraph.com/news/optimism-passes-buyback-proposal-to-bolster-op-token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Helvetica Neue"/>
              </a:rPr>
              <a:t>▪  Base min base fee / gas configuration change (Dec 2025): reported by Base network notices; used only as a competitive reference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